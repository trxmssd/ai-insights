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申请 / 潜在 / 锁定需求</c:v>
                </c:pt>
              </c:strCache>
            </c:strRef>
          </c:tx>
          <c:spPr>
            <a:solidFill>
              <a:srgbClr val="1E8F8F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泰国</c:v>
                  </c:pt>
                  <c:pt idx="1">
                    <c:v>印尼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规划 / 可即时供电</c:v>
                </c:pt>
              </c:strCache>
            </c:strRef>
          </c:tx>
          <c:spPr>
            <a:solidFill>
              <a:srgbClr val="4DE8DC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泰国</c:v>
                  </c:pt>
                  <c:pt idx="1">
                    <c:v>印尼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8.8</c:v>
                </c:pt>
                <c:pt idx="1">
                  <c:v>3.53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0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8A97A3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份额</c:v>
                </c:pt>
              </c:strCache>
            </c:strRef>
          </c:tx>
          <c:spPr>
            <a:solidFill>
              <a:srgbClr val="00C8C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美光</c:v>
                  </c:pt>
                  <c:pt idx="1">
                    <c:v>三星（一季度 21%）</c:v>
                  </c:pt>
                  <c:pt idx="2">
                    <c:v>SK 海力士（去年同期 64%）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33</c:v>
                </c:pt>
                <c:pt idx="2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元</c:v>
                </c:pt>
              </c:strCache>
            </c:strRef>
          </c:tx>
          <c:spPr>
            <a:solidFill>
              <a:srgbClr val="4DE8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 月下旬（上限）</c:v>
                  </c:pt>
                  <c:pt idx="1">
                    <c:v>5 月下旬（下限）</c:v>
                  </c:pt>
                  <c:pt idx="2">
                    <c:v>7 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F0B3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年初 约 +50%</c:v>
                  </c:pt>
                  <c:pt idx="1">
                    <c:v>6 月 −50%</c:v>
                  </c:pt>
                  <c:pt idx="2">
                    <c:v>8 月起 回正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-50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亿美元</c:v>
                </c:pt>
              </c:strCache>
            </c:strRef>
          </c:tx>
          <c:spPr>
            <a:solidFill>
              <a:srgbClr val="E5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此前</c:v>
                  </c:pt>
                  <c:pt idx="1">
                    <c:v>最新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169</c:v>
                </c:pt>
                <c:pt idx="1">
                  <c:v>438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同比 %</c:v>
                </c:pt>
              </c:strCache>
            </c:strRef>
          </c:tx>
          <c:spPr>
            <a:solidFill>
              <a:srgbClr val="00C8C8"/>
            </a:solidFill>
            <a:effectLst/>
          </c:spPr>
          <c:invertIfNegative val="0"/>
          <c:dLbls>
            <c:numFmt formatCode="+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Globe 企业数据收入</c:v>
                  </c:pt>
                  <c:pt idx="1">
                    <c:v>中国电信 算力投资</c:v>
                  </c:pt>
                  <c:pt idx="2">
                    <c:v>中国移动 算力网投资</c:v>
                  </c:pt>
                  <c:pt idx="3">
                    <c:v>中国移动 智算服务收入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26</c:v>
                </c:pt>
                <c:pt idx="2">
                  <c:v>71</c:v>
                </c:pt>
                <c:pt idx="3">
                  <c:v>130.1</c:v>
                </c:pt>
              </c:numCache>
            </c:numRef>
          </c:val>
        </c:ser>
        <c:dLbls>
          <c:numFmt formatCode="+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万亿</c:v>
                </c:pt>
              </c:strCache>
            </c:strRef>
          </c:tx>
          <c:spPr>
            <a:solidFill>
              <a:srgbClr val="00C8C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美国模型</c:v>
                  </c:pt>
                  <c:pt idx="1">
                    <c:v>中国模型</c:v>
                  </c:pt>
                  <c:pt idx="2">
                    <c:v>全球合计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21.8</c:v>
                </c:pt>
                <c:pt idx="1">
                  <c:v>61.2</c:v>
                </c:pt>
                <c:pt idx="2">
                  <c:v>127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spPr>
            <a:solidFill>
              <a:srgbClr val="4DE8DC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PDP 2026 规划</c:v>
                  </c:pt>
                  <c:pt idx="1">
                    <c:v>申请总量</c:v>
                  </c:pt>
                  <c:pt idx="2">
                    <c:v>全国用电高峰（约）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8.8</c:v>
                </c:pt>
                <c:pt idx="1">
                  <c:v>35</c:v>
                </c:pt>
                <c:pt idx="2">
                  <c:v>40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4DE8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 年 5 月</c:v>
                  </c:pt>
                  <c:pt idx="1">
                    <c:v>2030 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637</c:v>
                </c:pt>
                <c:pt idx="1">
                  <c:v>2700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rgbClr val="1E8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DF2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2026 年</c:v>
                  </c:pt>
                  <c:pt idx="1">
                    <c:v>2035 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841</c:v>
                </c:pt>
                <c:pt idx="1">
                  <c:v>2540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EDF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DF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F14"/>
        </a:solidFill>
        <a:ln>
          <a:noFill/>
        </a:ln>
        <a:effectLst/>
      </c:spPr>
    </c:plotArea>
    <c:plotVisOnly val="1"/>
    <c:dispBlanksAs val="span"/>
  </c:chart>
  <c:spPr>
    <a:solidFill>
      <a:srgbClr val="0A0F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【封面】各位好。这份材料把九月 30 期日报、902 条 AI 情报压成一句话：AI 进入记账期。上个月我们说算力的重心在移动；这个月看到的是，移动之后，电、Token、GPU 都开始被逐项记账——电写进了法条，Token 写进了报价和损益表，GPU 写进了贷款抵押合同。下面分五部分：四本账、各国位置、运营商专题、泰国和印尼两个国家专题，最后是谈资和对我们的影响。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【全景】先看四本账，每本一个数字。电：印尼电网公司说 13 吉瓦的数据中心需求里，能马上供电的只有 3534.8 兆瓦，不到三成——电写进了法条。硬件：HBM 均价首次突破 70 美元，明年 HBM4 可能再涨六成多——涨价写进了报价单。Token：中国运营商的 Token 套餐降到一块钱一百万个——Token 进了损益表。资本：美国大厂用残值担保兜了 3000 亿美元，大部分在表外——GPU 成了抵押物。四本账里，三本在收紧，一本在重写规则。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【电力与准入】左边三组柱子说的是同一件事：申请的、签约的，和真正能通电的，差了好几倍。泰国申请 35 吉瓦、规划只给 8.8；印尼潜在需求 13 吉瓦、能即时供电 3.5；马来西亚已经锁定 8.35 吉瓦，但 2027 年没有新增燃气机组，供给拐点要到 2029 年。右边是本月把电力写进规则的六个地方，模板几乎一样：容量分级门槛、自带或自购绿电、用水披露、大负荷单独电价。结论是：不会再有哪国宽松去哪国的套利空间，能证明自己是真需求的项目才排得上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【硬件涨价】这页看硬件账。左边是二季度 HBM 收入份额，三星一个季度从 21% 升到 33%，双来源成形了；但右边几个数字说明双来源改善的是确定性，不是价格：HBM 均价首破 70 美元，台积电明年 AI 溢出订单据报道要多收 10% 到 15%，联发科说 B200 扣掉内存以后四分之三成本在封装。右上是华为同月发布的 64PB 上下文记忆存储，SK 海力士同一天也把 KV 缓存分层做成了产品——推理的稀缺资源从算力换成了记忆容量。明年的预算请按偏紧做。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【Token 账】左上是中国运营商 Token 套餐价：5 月下旬三到五元每百万，7 月一元。左下是 Harvey 的毛利率：年初约五成，6 月跌到负五成，换开源模型后回正。右边六件事说明 Token 已经越过损益表：北京凭 Token 消耗放贷近 20 亿元；印度 IT 服务商把 Token 写进报价；前沿模型降价两成到一半；Anthropic 让年度额度直接买第三方软件；九章云极拿 DCU 做计费单位上市；白皮书承认真正投产的词元工厂占比还偏低。客户明年会按单位工作成本买 AI，不是按最强模型。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【GPU 抵押】左边是 Alphabet 与数据中心相关的担保，半年内从 169 亿美元涨到 438 亿美元。这条链的起点是甲骨文：服役四年以上的 GPU 按高于原价两成续约，利用率 97.9%，等于给芯片建了残值锚，银行就敢拿芯片和算力合约做抵押。右边是链条上的六个环节，注意亚太的钱已经进来：日本三大银行占全球数据中心和电力贷款的 13%，印度 ESDS 新股 136 倍认购；新加坡金管局已经把 AI 回调写进压力测试。对我们：设备交期和残值口径，会被客户的贷款方追问。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【各国位置】把亚太分成四种角色。左上定规格、造产能：韩国 9 月前 20 天芯片出口增 259.4%，台湾 8 月外销订单首破千亿美元。右上承接算力、收紧准入：泰国、马来西亚、印尼、越南、印度，本月几乎同时把电写进规则。左下资本与调度枢纽：新加坡立法要求 3 兆瓦以上数据中心持牌，日本寿险成了 AI 基建的债权方。右下运营商把网络变算力：中国移动、KT、NTT。一句话：增量算力在南边落地，规则和资本在北边定价。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【运营商 图】进入运营商专题。左边是本月披露的运营商算力相关增速：中国移动智算服务收入增 130%，算力网投资增 71%，中国电信算力投资增 26%，Globe 企业数据收入增 15%。右边是 KT 的规划图：把 3500 处通信局所改成 AI 边缘节点，和中央数据中心联动。下面两个数字：中国移动 AIDC 签约超 7 吉瓦；Anthropic 和 OpenAI 在找 20 到 30 兆瓦的小型推理站点。推理的部署单元在变小，正好对上运营商局所的尺寸。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【运营商 四条路径】运营商这一轮有四个抓手，每个都有领先者跑出数字。第一，局所变边缘算力：KT 3500 处，kt cloud 2031 年前新增 1 吉瓦。第二，按卡计费的 GPU 服务：NTT DOCOMO Business 一张 GPU 起租，数据不出日本。第三，Token 经营：中国移动设集团级 Token 办公室，PLDT Smart 49 比索 7 天的多模型套餐可以用话费付。第四，智能体授权：SK 电讯在 GSMA 提议付款前用 RCS 消息做最终确认。前两条拼资产，后两条拼运营能力，后两条是云厂商难以自建的。东南亚有反例：Telkom、Singtel 在出让数据中心控股权换资本。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【开源】左边是 9 月 7 到 13 日 OpenRouter 的周调用量：全球 127 万亿 Token，中国模型 61.2 万亿，美国 21.8 万亿，中国连续 20 周第一，前十占 7 席。右边三个数字：DeepSeek 厂商份额 25.4%；英伟达约 129 亿美元收购 Hugging Face；韩国 Xenon 用 8 张 B200 就在 Qwen 上做完后训练。最大的变化是采用方：Harvey 这类应用公司拿中国开源权重托底毛利。反证也要讲：同一周美国模型调用环比增 31.6%，快于中国的 7.9%。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【泰国专题】看一个具体市场。左边三根柱子：泰国数据中心用电申请 35 吉瓦，规划 8.8 吉瓦，全国用电高峰约 40 吉瓦——申请量接近全国高峰，官方直接叫幻影需求。右边是一个月的时间轴：9 月 4 日曼谷暂停新牌照，5 日叫停 49 座在建，17 日幻影需求定性，22 日 100 兆瓦以上拟划超大规模，29 日 166 个项目挂起等新规，新规预计 10 月中旬生效。泰国的准入从拿地变成了拿电，能带可调负荷、自备电源和真实客户合同的项目先过关。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【印尼专题】印尼是另一种组合：需求大、电网慢、运营商在卖资产。左边柱图：数据中心容量从今年 5 月 637 兆瓦到 2030 年 2.7 吉瓦；巴淡岛峰值负荷从 841 兆瓦到 2035 年 2540 兆瓦。右边三栏：需求端 PLN 13 吉瓦潜在需求、159 家数据中心客户；约束端只有 3534.8 兆瓦能即时供电、1 吉瓦项目要配 500 千伏、电网三到五年；落地端 BDx 先拿 845 兆伏安配额再动工 640 兆瓦，Zankore 拿到 31 亿美元贷款，Telkom 评估让出 NeutraDC 控股权。在印尼，配额比土地值钱。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【谈资 Top 10】这页是可以直接开口的十句话，日期都标了。挑三句最常用的：一，印尼 13 吉瓦的需求里能马上通电的不到三成。二，中国运营商的 Token 已经卖到一块钱一百万个。三，四年的老 GPU 续约还涨价两成，所以银行敢拿芯片做抵押。对运营商用 2、3、7；对政府和 IDC 用 1、2、4；对金融和投资方用 4、5、9；对企业和 IT 服务商用 3、6、10。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【战略影响】最后四个判断，各配一个动作。一，电力写进法条，动作是把绿电、需求响应、用水计量、PUE 承诺打成合规包，10 月去核对哪些项目落在澳洲追溯和泰国新规范围内。二，硬件涨价写进报价，动作是 2027 年项目前置调价条款、物料双源，用超节点光互连省电对冲。三，Token 进损益表，动作是对客报价设独立 Token 条款，用单位工作成本口径。四，运营商的资产在局所，动作是给东南亚运营商一份可采购清单：边缘 AIDC、全光调度、按卡计费、Token 结算。收尾一句：九月以后，AI 项目先过的是三张表——并网时序表、Token 成本表、残值担保表。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【来源】这页是关键数字的原始出处，链接都可以点开。全部条目在知识库 trxmssd.github.io/ai-insights 可以检索。有任何数字需要核对，会后我发原文。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image" Target="../media/image-12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ecobiz.asia/pln-records-potential-13-gw-data-center-power-demand/" TargetMode="External"/><Relationship Id="rId2" Type="http://schemas.openxmlformats.org/officeDocument/2006/relationships/hyperlink" Target="https://www.nationthailand.com/business/economy/40071096" TargetMode="External"/><Relationship Id="rId3" Type="http://schemas.openxmlformats.org/officeDocument/2006/relationships/hyperlink" Target="https://www.scmp.com/news/asia/southeast-asia/article/3366435/thailand-suspends-building-49-data-centres-resource-strain-concerns-grow" TargetMode="External"/><Relationship Id="rId4" Type="http://schemas.openxmlformats.org/officeDocument/2006/relationships/hyperlink" Target="https://www.datacenterdynamics.com/en/news/thailand-set-to-finalize-new-data-center-regulations-by-mid-october-report/" TargetMode="External"/><Relationship Id="rId5" Type="http://schemas.openxmlformats.org/officeDocument/2006/relationships/hyperlink" Target="https://www.pmc.gov.au/domestic-policy/office-ai/getting-it-right-building-ai-infrastructure-works-australia" TargetMode="External"/><Relationship Id="rId6" Type="http://schemas.openxmlformats.org/officeDocument/2006/relationships/hyperlink" Target="https://technode.global/2026/09/14/mbsb-sees-data-center-demand-to-drive-malaysias-power-capacity-upcycle/" TargetMode="External"/><Relationship Id="rId7" Type="http://schemas.openxmlformats.org/officeDocument/2006/relationships/hyperlink" Target="https://technode.global/2026/09/23/vietnams-data-center-operator-cmc-viettel-petition-ministry-over-power-pricing-after-cutoff-threat/" TargetMode="External"/><Relationship Id="rId8" Type="http://schemas.openxmlformats.org/officeDocument/2006/relationships/hyperlink" Target="https://technode.global/2026/09/22/singapores-bdx-breaks-ground-on-640-mw-ai-data-center-in-indonesias-west-java/" TargetMode="External"/><Relationship Id="rId9" Type="http://schemas.openxmlformats.org/officeDocument/2006/relationships/hyperlink" Target="https://en.sedaily.com/finance/2026/09/01/korea-chip-exports-hit-record-466-billion-on-ai-memory-boom" TargetMode="External"/><Relationship Id="rId10" Type="http://schemas.openxmlformats.org/officeDocument/2006/relationships/hyperlink" Target="https://en.sedaily.com/finance/2026/09/03/samsung-doubles-hbm-market-share-to-33-percent-narrowing" TargetMode="External"/><Relationship Id="rId11" Type="http://schemas.openxmlformats.org/officeDocument/2006/relationships/hyperlink" Target="https://www.businesskorea.co.kr/news/articleView.html?idxno=277595" TargetMode="External"/><Relationship Id="rId12" Type="http://schemas.openxmlformats.org/officeDocument/2006/relationships/hyperlink" Target="https://www.techtimes.com/articles/327980/20260924/tsmc-sets-2027-chip-price-floor-3-6-ai-orders-could-pay-triple-that.htm" TargetMode="External"/><Relationship Id="rId13" Type="http://schemas.openxmlformats.org/officeDocument/2006/relationships/hyperlink" Target="https://www.digitimes.com/news/a20260902PD222/packaging-supply-chain-2026-mediatek-taiwan.html" TargetMode="External"/><Relationship Id="rId14" Type="http://schemas.openxmlformats.org/officeDocument/2006/relationships/hyperlink" Target="https://www.huawei.com/en/news/2026/9/hc-context-memory-storage" TargetMode="External"/><Relationship Id="rId15" Type="http://schemas.openxmlformats.org/officeDocument/2006/relationships/hyperlink" Target="https://www.c114.com.cn/4app/3542/a1317324.html" TargetMode="External"/><Relationship Id="rId16" Type="http://schemas.openxmlformats.org/officeDocument/2006/relationships/hyperlink" Target="https://www.ithome.com/0/998/784.htm" TargetMode="External"/><Relationship Id="rId17" Type="http://schemas.openxmlformats.org/officeDocument/2006/relationships/hyperlink" Target="https://www.bloomberg.com/news/articles/2026-09-21/startups-like-harvey-embrace-open-models-to-cut-reliance-on-anthropic-openai" TargetMode="External"/><Relationship Id="rId18" Type="http://schemas.openxmlformats.org/officeDocument/2006/relationships/hyperlink" Target="https://www.livemint.com/industry/infotech/ai-business-of-indian-it-companies-coforge-hexaware-technologies-11789905897871.html" TargetMode="External"/><Relationship Id="rId19" Type="http://schemas.openxmlformats.org/officeDocument/2006/relationships/hyperlink" Target="https://techcrunch.com/2026/09/22/anthropic-releases-opus-5-5-with-lower-prices-and-fable-level-performance/" TargetMode="External"/><Relationship Id="rId20" Type="http://schemas.openxmlformats.org/officeDocument/2006/relationships/hyperlink" Target="https://www.nbd.com.cn/articles/2026-09-29/4594810.html" TargetMode="External"/><Relationship Id="rId21" Type="http://schemas.openxmlformats.org/officeDocument/2006/relationships/hyperlink" Target="https://www.datacenterdynamics.com/en/news/oracle-delivered-300000-gpus-in-q1-fy2027/" TargetMode="External"/><Relationship Id="rId22" Type="http://schemas.openxmlformats.org/officeDocument/2006/relationships/hyperlink" Target="https://www.ft.com/content/7f11afae-c4e3-4054-a65b-873f3647f563" TargetMode="External"/><Relationship Id="rId23" Type="http://schemas.openxmlformats.org/officeDocument/2006/relationships/hyperlink" Target="https://en.sedaily.com/international/2026/09/21/japans-life-insurers-emerge-as-lenders-to-us-ai-data-centers" TargetMode="External"/><Relationship Id="rId24" Type="http://schemas.openxmlformats.org/officeDocument/2006/relationships/hyperlink" Target="https://www.japantimes.co.jp/business/2026/09/21/companies/softbank-11-billion-junk-bonds-openai-bet/" TargetMode="External"/><Relationship Id="rId25" Type="http://schemas.openxmlformats.org/officeDocument/2006/relationships/hyperlink" Target="https://technode.global/2026/09/23/mas-flags-risks-from-potential-ai-investment-pullback/" TargetMode="External"/><Relationship Id="rId26" Type="http://schemas.openxmlformats.org/officeDocument/2006/relationships/hyperlink" Target="https://www.cnbc.com/2026/09/28/anthropics-ipo-prospectus-shows-sweeping-ai-vision-surging-costs-reuters.html" TargetMode="External"/><Relationship Id="rId27" Type="http://schemas.openxmlformats.org/officeDocument/2006/relationships/hyperlink" Target="https://en.sedaily.com/technology/2026/09/17/kt-to-turn-3500-telecom-sites-into-ai-computing-hubs" TargetMode="External"/><Relationship Id="rId28" Type="http://schemas.openxmlformats.org/officeDocument/2006/relationships/hyperlink" Target="https://www.21jingji.com/article/20260921/herald/9dd97db971e8b3a784c558eee3cf3d67.html" TargetMode="External"/><Relationship Id="rId29" Type="http://schemas.openxmlformats.org/officeDocument/2006/relationships/hyperlink" Target="https://en.sedaily.com/technology/2026/09/15/sk-telecom-proposes-global-standard-for-ai-approvals-via-rcs" TargetMode="External"/><Relationship Id="rId30" Type="http://schemas.openxmlformats.org/officeDocument/2006/relationships/hyperlink" Target="https://technode.global/2026/09/03/kkr-singtel-consortium-completes-takeover-of-singapores-stt-gdc-at-10-9b/" TargetMode="External"/><Relationship Id="rId31" Type="http://schemas.openxmlformats.org/officeDocument/2006/relationships/hyperlink" Target="https://www.yicai.com/news/103367653.html" TargetMode="External"/><Relationship Id="rId32" Type="http://schemas.openxmlformats.org/officeDocument/2006/relationships/hyperlink" Target="https://blogs.nvidia.com/blog/nvidia-to-acquire-hugging-face/" TargetMode="External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亚太ICT MSSD · AI 高层交流材料 · 2026 年 9 月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进入记账期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电写进法条 · Token 写进报价 · GPU 写进抵押合同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期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日报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902 条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情报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条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主线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3931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09.01–09.30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数据窗口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每个数字都可回溯到日报原文与原始出处（末页链接）；标「据报道」者原日报即未获当事方确认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052560" y="155448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89720" y="1682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0" y="1709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全景：四本账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52560" y="233172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89720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电力 · 硬件 · Token · 资本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052560" y="310896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8972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地图与运营商专题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052560" y="388620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8972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601200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国家专题：泰国 / 印尼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052560" y="466344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8972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601200" y="4818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谈资 Top 10 与战略影响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来源：09-02 / 09-07 / 09-11 / 09-21 日报 ｜ Ecobiz（PLN）· Seoul Economic Daily · Omdia（C114）· Financial Times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全景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四本账同时开始记：电、硬件、Token、资本都有了明码标价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28600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3,534.8MW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印尼 PLN 约 13GW 潜在需求中可即时供电的部分（09-07）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" y="4160520"/>
            <a:ext cx="2194560" cy="0"/>
          </a:xfrm>
          <a:prstGeom prst="line">
            <a:avLst/>
          </a:prstGeom>
          <a:noFill/>
          <a:ln w="12700">
            <a:solidFill>
              <a:srgbClr val="2A39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297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电写进法条：分级门槛、绿电、单独电价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64992" y="16916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93592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102352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593592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76.13 美元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3593592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月 HBM 均价，首破 70 美元（09-02）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593592" y="4160520"/>
            <a:ext cx="2194560" cy="0"/>
          </a:xfrm>
          <a:prstGeom prst="line">
            <a:avLst/>
          </a:prstGeom>
          <a:noFill/>
          <a:ln w="12700">
            <a:solidFill>
              <a:srgbClr val="2A394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93592" y="4297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涨价写进 2027 报价：HBM4 或 +65%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81344" y="16916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9944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918704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B3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重构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409944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元/百万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6409944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中国运营商 Token 套餐价，5 月为 3–5 元（09-11）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9944" y="4160520"/>
            <a:ext cx="2194560" cy="0"/>
          </a:xfrm>
          <a:prstGeom prst="line">
            <a:avLst/>
          </a:prstGeom>
          <a:noFill/>
          <a:ln w="12700">
            <a:solidFill>
              <a:srgbClr val="2A394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9944" y="4297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进损益表：报价条款、信贷、毛利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997696" y="1691640"/>
            <a:ext cx="2651760" cy="3749040"/>
          </a:xfrm>
          <a:prstGeom prst="roundRect">
            <a:avLst>
              <a:gd name="adj" fmla="val 275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26296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0735056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9226296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3,000 亿美元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9226296" y="3291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美国大厂以残值担保支持的 AI 基建融资，多在表外（09-21）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226296" y="4160520"/>
            <a:ext cx="2194560" cy="0"/>
          </a:xfrm>
          <a:prstGeom prst="line">
            <a:avLst/>
          </a:prstGeom>
          <a:noFill/>
          <a:ln w="12700">
            <a:solidFill>
              <a:srgbClr val="2A394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226296" y="4297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成抵押物，亚太资金成债权方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7150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口径：约束 = 出现准入门槛、涨价、配额或信用收紧；重构 = 计价单位或商业规则被改写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来源：09-07 / 09-15 / 09-17 / 09-19 / 09-22 / 09-24 / 09-29 日报 ｜ Ecobiz · MBSB（TNGlobal）· Nation Thailand · PM&amp;C · DCD · TNGlobal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账本 01 · 电力与准入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电从招商筹码写成法条：申请量、签约量与可通电量差了几倍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 / 潜在需求 vs 规划 / 可即时供电（GW）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4406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口径：泰国＝申请总量 vs PDP 2026 草案规划（09-17）；印尼＝PLN 潜在需求 vs 优先级一可即时供电（09-07）；马来西亚未入图：TNB 已锁定 61 个项目 8.35GW 最大需量，2027 年无新增燃气机组、供给拐点指向 2029 年（09-15，MBSB 研报）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6675120" y="1554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本月把电力写进规则的地方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675120" y="1828800"/>
            <a:ext cx="4983480" cy="585216"/>
          </a:xfrm>
          <a:prstGeom prst="roundRect">
            <a:avLst>
              <a:gd name="adj" fmla="val 12500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84848" y="186537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泰国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001000" y="18653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100MW 以上拟划超大规模、能源部设用电上限；166 个项目挂起，新规 10 月中旬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064240" y="186537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09-29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675120" y="2487168"/>
            <a:ext cx="4983480" cy="585216"/>
          </a:xfrm>
          <a:prstGeom prst="roundRect">
            <a:avLst>
              <a:gd name="adj" fmla="val 12500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784848" y="252374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澳大利亚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001000" y="25237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30MW 以上须新增绿电抵消；咨询 10/9 截止，拟 2027 初立法，或追溯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064240" y="2523744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09-19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675120" y="3145536"/>
            <a:ext cx="4983480" cy="585216"/>
          </a:xfrm>
          <a:prstGeom prst="roundRect">
            <a:avLst>
              <a:gd name="adj" fmla="val 12500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784848" y="318211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维州 / 欧盟 / 加州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8001000" y="318211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住宅缓冲 150 米；500kW 以上能效水效标识；大负荷单独电价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064240" y="3182112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09-22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675120" y="3803904"/>
            <a:ext cx="4983480" cy="585216"/>
          </a:xfrm>
          <a:prstGeom prst="roundRect">
            <a:avLst>
              <a:gd name="adj" fmla="val 12500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784848" y="384048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马来西亚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8001000" y="38404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新批项目或须至少三成绿电（兴业投行）；工作组新批 5GW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64240" y="384048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09-22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675120" y="4462272"/>
            <a:ext cx="4983480" cy="585216"/>
          </a:xfrm>
          <a:prstGeom prst="roundRect">
            <a:avLst>
              <a:gd name="adj" fmla="val 12500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84848" y="449884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越南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8001000" y="44988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CMC、Viettel 被改按商业电价，电费上涨逾五成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1064240" y="44988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09-24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675120" y="5120640"/>
            <a:ext cx="4983480" cy="585216"/>
          </a:xfrm>
          <a:prstGeom prst="roundRect">
            <a:avLst>
              <a:gd name="adj" fmla="val 12500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784848" y="515721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印尼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8001000" y="515721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BDx 先拿 845MVA 配额，再动工 640MW 园区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11064240" y="515721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09-23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6675120" y="58338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判断：没有「哪国宽松去哪国」的套利空间了——能证明真需求（客户合同、可调负荷、自备电源）的项目先拿并网次序。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来源：09-02 / 09-03 / 09-04 / 09-18 / 09-24 / 09-25 日报 ｜ Seoul Economic Daily · DigiTimes · Counterpoint · 华为官网 · BusinessKorea · Tech Times（DigiTimes 供应链消息）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账本 02 · 存储与封装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双来源改善的是确定性不是价格：存储与封装把涨价写进 2027 年报价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年二季度 HBM 收入份额（%，Counterpoint）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60350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114800"/>
            <a:ext cx="6035040" cy="420624"/>
          </a:xfrm>
          <a:prstGeom prst="roundRect">
            <a:avLst>
              <a:gd name="adj" fmla="val 1739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169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76.13 美元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468880" y="4206240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月 HBM 均价，环比 +9.5%，首破 70 美元（09-02）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4626864"/>
            <a:ext cx="6035040" cy="420624"/>
          </a:xfrm>
          <a:prstGeom prst="roundRect">
            <a:avLst>
              <a:gd name="adj" fmla="val 1739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46817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+65%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468880" y="4718304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HBM4 明年价格较今年可能涨幅（09-24，媒体援引行业消息）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5138928"/>
            <a:ext cx="6035040" cy="420624"/>
          </a:xfrm>
          <a:prstGeom prst="roundRect">
            <a:avLst>
              <a:gd name="adj" fmla="val 1739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51937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+10–15%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468880" y="5230368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台积电 2027 年 AI 溢出订单加收，基础报价 +3–6%（09-25，据报道）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5650992"/>
            <a:ext cx="6035040" cy="420624"/>
          </a:xfrm>
          <a:prstGeom prst="roundRect">
            <a:avLst>
              <a:gd name="adj" fmla="val 1739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31520" y="57058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75%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2468880" y="5742432"/>
            <a:ext cx="3977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联发科：B200 扣除内存后成本来自先进封装（09-03）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922008" y="1572768"/>
            <a:ext cx="4764024" cy="2706624"/>
          </a:xfrm>
          <a:prstGeom prst="rect">
            <a:avLst/>
          </a:prstGeom>
          <a:solidFill>
            <a:srgbClr val="16222E"/>
          </a:solidFill>
          <a:ln w="6350">
            <a:solidFill>
              <a:srgbClr val="2A3947"/>
            </a:solidFill>
            <a:prstDash val="solid"/>
          </a:ln>
        </p:spPr>
      </p:sp>
      <p:pic>
        <p:nvPicPr>
          <p:cNvPr id="22" name="Image 0" descr="E:\claude workspace\DailyAIReport\deck-template\img\s09_m900_d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1600200"/>
            <a:ext cx="4709160" cy="2651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4944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华为 OceanStor M900 上下文记忆存储：单集群 64PB KV 缓存，与 SK 海力士 HBF / SALT-KV 同日发布（华为官网，09-18 日报）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949440" y="470916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132320" y="4773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5,500 : 4.8 万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9326880" y="475488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昇腾 960 超节点 Hi-ONE 模块替代 800G 光模块，功耗降超 550kW（09-18，厂商自述）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949440" y="5623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判断：推理的稀缺资源从算力换成记忆容量；2027 年交付项目调价条款前置、物料双源、价格按偏紧做。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来源：09-04 / 09-06 / 09-11 / 09-22 / 09-23 / 09-24 / 09-26 / 09-30 日报 ｜ Omdia（C114）· Bloomberg · Mint · IT之家 · TechCrunch · 中国经营报 · 每日经济新闻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账本 03 · Token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越过损益表：它决定的已经不是成本，是谁的商业模式成立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中国运营商 Token 套餐价（元 / 百万 Token）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4023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Harvey 毛利率（%）：闭源按量计费 → 换开源自研</a:t>
            </a:r>
            <a:endParaRPr lang="en-US" sz="9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548640" y="4297680"/>
          <a:ext cx="38404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4846320" y="1554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越过损益表：本月六件事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846320" y="1828800"/>
            <a:ext cx="681228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956048" y="186537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09-06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5596128" y="186537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信贷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186537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北京经开区「Token 贷」：六家银行凭 Token 消耗授信近 20 亿元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846320" y="2468880"/>
            <a:ext cx="6812280" cy="566928"/>
          </a:xfrm>
          <a:prstGeom prst="roundRect">
            <a:avLst>
              <a:gd name="adj" fmla="val 1290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956048" y="250545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5596128" y="250545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报价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250545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印度 Coforge：客户数天到数月烧光全年预算；Hexaware 报价带 token 选项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46320" y="3108960"/>
            <a:ext cx="681228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956048" y="314553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09-23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5596128" y="314553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降价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314553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Opus 5.5 降 20%；GPT-6 Sol / Luna 为前代一半或更低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846320" y="3749040"/>
            <a:ext cx="6812280" cy="566928"/>
          </a:xfrm>
          <a:prstGeom prst="roundRect">
            <a:avLst>
              <a:gd name="adj" fmla="val 1290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956048" y="378561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09-24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5596128" y="378561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263640" y="378561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Marketplace：年度承诺额度可直接买第三方软件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46320" y="4389120"/>
            <a:ext cx="681228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956048" y="442569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09-30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5596128" y="442569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计费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6263640" y="442569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九章云极递表港交所，以 DCU 作为智算计费单位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12280" cy="566928"/>
          </a:xfrm>
          <a:prstGeom prst="roundRect">
            <a:avLst>
              <a:gd name="adj" fmla="val 1290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956048" y="506577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09-26</a:t>
            </a:r>
            <a:endParaRPr 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5596128" y="506577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3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反证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6263640" y="5065776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词元工厂白皮书：真正投产项目占比仍偏低，缺「有效词元」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4846320" y="576072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判断：2027 年客户按「单位工作成本」买 AI，不按最强模型——开源权重 + 自有算力是成本托底，Token 要做成独立报价条款。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来源：09-13 / 09-18 / 09-21 / 09-23 / 09-24 / 09-30 日报 ｜ DCD · Bloomberg · Financial Times · Seoul Economic Daily · Japan Times · TNGlobal · CNBC（Reuters）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账本 04 · 资本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 成了抵押物，亚太的钱成了债权方：整条链压在「旧 GPU 还值钱」上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Alphabet 与数据中心相关的担保（亿美元，半年内）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297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352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97.9%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468880" y="4389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甲骨文 GPU 利用率；到期容量按高于原价约 20% 续约，多数服役四年以上（09-13）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51663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52212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3,000 亿美元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468880" y="5257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美国大厂以残值担保支持的 AI 基建融资，大部分不计入常规负债（09-21）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1554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融资链上的六个环节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937760" y="1828800"/>
            <a:ext cx="672084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047488" y="186537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残值锚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080760" y="186537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甲骨文旧 GPU 涨价续约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11064240" y="186537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09-13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37760" y="2468880"/>
            <a:ext cx="6720840" cy="566928"/>
          </a:xfrm>
          <a:prstGeom prst="roundRect">
            <a:avLst>
              <a:gd name="adj" fmla="val 1290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047488" y="250545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抵押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080760" y="250545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Crux AI 以 TPU 资产与合同筹组约 220 亿美元贷款（筹组中）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11064240" y="250545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09-18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4937760" y="3108960"/>
            <a:ext cx="672084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047488" y="314553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债权方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080760" y="314553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日本生命 AI 基建贷款 1 万亿 → 2035 年 2 万亿日元；日本三大银行占全球 DC 与电力贷款 13%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11064240" y="314553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09-21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937760" y="3749040"/>
            <a:ext cx="6720840" cy="566928"/>
          </a:xfrm>
          <a:prstGeom prst="roundRect">
            <a:avLst>
              <a:gd name="adj" fmla="val 1290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047488" y="378561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高收益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080760" y="378561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软银 7.5 年期票息指引最高 9.875%；对 OpenAI 承诺近 650 亿美元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11064240" y="378561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09-23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937760" y="4389120"/>
            <a:ext cx="672084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047488" y="442569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长约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080760" y="442569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Anthropic 十年算力承诺 5,180 亿美元、约八成不可取消（据报道）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11064240" y="442569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09-30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4937760" y="5029200"/>
            <a:ext cx="6720840" cy="566928"/>
          </a:xfrm>
          <a:prstGeom prst="roundRect">
            <a:avLst>
              <a:gd name="adj" fmla="val 1290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047488" y="5065776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0B3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压力测试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6080760" y="5065776"/>
            <a:ext cx="4937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新加坡金管局：严峻情景下 32% 上市公司处于风险状态</a:t>
            </a:r>
            <a:endParaRPr lang="en-US" sz="950" dirty="0"/>
          </a:p>
        </p:txBody>
      </p:sp>
      <p:sp>
        <p:nvSpPr>
          <p:cNvPr id="39" name="Text 35"/>
          <p:cNvSpPr txBox="1"/>
          <p:nvPr/>
        </p:nvSpPr>
        <p:spPr>
          <a:xfrm>
            <a:off x="11064240" y="506577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09-24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4937760" y="57607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判断：交期承诺与残值口径已是商务条款；审查客户融资结构，带日资长期贷款的园区优先。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来源：09-01 – 09-30 日报归档；每格数字见对应日报与末页链接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 · 各国位置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增量算力在南边落地，规则和资本在北边定价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定规格 · 造产能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韩国 · 中国台湾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0756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韩国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2075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月前 20 日芯片出口 +259.4%；三星 HBM 份额 33%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5786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台湾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783080" y="25786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月外销订单 1029.6 亿美元，首破千亿；CoWoS 至 2027 年年复合 &gt;80%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72200" y="15087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73368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承接算力 · 收紧准入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泰国 · 马来西亚 · 印尼 · 越南 · 印度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373368" y="20756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泰国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207568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 35GW 对规划 8.8GW；166 个项目挂起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373368" y="2468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马来西亚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24688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TNB 锁定 8.35GW；DC 占总用电 9.28%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373368" y="28620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印尼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28620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13GW 潜在需求、3,534.8MW 可即时供电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373368" y="32552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印度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406640" y="325526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JLL：容量 1.6GW → 2029 年 6GW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38404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3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资本与调度枢纽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29184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新加坡 · 日本 · 中国香港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49808" y="4407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新加坡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783080" y="4407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数字基础设施法案：3MW 以上数据中心须持牌并达能效要求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4910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日本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783080" y="49103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三大银行占全球 DC 与电力贷款 13%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749808" y="5413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香港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783080" y="54132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沙岭算力 2032 年为现有 36 倍；亚马逊收购两座 DC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172200" y="38404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73368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网络变算力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91540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中国大陆 · 韩国 · 日本运营商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373368" y="44074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中国移动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7406640" y="44074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智算服务收入 +130.1%；AIDC 签约超 7GW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373368" y="4910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KT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7406640" y="491032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3,500 处局所改 AI 边缘节点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373368" y="54132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NTT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7406640" y="54132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GPUaaS 1 张 GPU 起租，数据境内闭环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1081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判断：东南亚负责接负荷、也最先收紧准入；北亚握产能与资本；运营商把网络资产改造成算力资产。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来源：09-13 / 09-20 / 09-22 / 09-23 / 09-25 日报 ｜ 21 世纪经济报道 · Seoul Economic Daily · Philstar · CNBC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专题 01 · 运营商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推理单元在变小，正好对上运营商局所的尺寸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运营商算力相关指标同比增速（%，2026 上半年）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6309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2120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中国移动智算服务收入 53 亿元、算力网投资 156 亿元；中国电信算力投资 255 亿元；Globe 资本开支 263 亿比索、91% 投数据网络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104888" y="1572768"/>
            <a:ext cx="4581144" cy="2569464"/>
          </a:xfrm>
          <a:prstGeom prst="rect">
            <a:avLst/>
          </a:prstGeom>
          <a:solidFill>
            <a:srgbClr val="16222E"/>
          </a:solidFill>
          <a:ln w="6350">
            <a:solidFill>
              <a:srgbClr val="2A3947"/>
            </a:solidFill>
            <a:prstDash val="solid"/>
          </a:ln>
        </p:spPr>
      </p:sp>
      <p:pic>
        <p:nvPicPr>
          <p:cNvPr id="11" name="Image 0" descr="E:\claude workspace\DailyAIReport\deck-template\img\s09_kt350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0" y="1600200"/>
            <a:ext cx="4526280" cy="2514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32320" y="4160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KT 物理 AI 规划：Edge AIDC + 数据飞轮 + RaaS，约 3,500 处局所改造为边缘算力节点（Seoul Economic Daily，09-20 日报）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7132320" y="4572000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315200" y="46268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GW+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9052560" y="4663440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中国移动 AIDC 总签约规模（09-13）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7132320" y="5193792"/>
            <a:ext cx="4526280" cy="530352"/>
          </a:xfrm>
          <a:prstGeom prst="roundRect">
            <a:avLst>
              <a:gd name="adj" fmla="val 1379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0" y="52486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20–30 MW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052560" y="5285232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Anthropic、OpenAI 寻求的小型推理站点尺寸（09-20，据 CNBC）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7607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判断：覆盖密度、号码与全光调度是云商买不到、只能租的资产。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来源：09-04 / 09-11 / 09-12 / 09-16 / 09-18 / 09-20 / 09-26 日报 ｜ Seoul Economic Daily · Omdia（C114）· NTT DOCOMO Business · Developing Telecoms · TNGlobal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专题 01 · 运营商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四个抓手：前两个拼资产，后两个拼云厂商难以自建的运营能力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642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局所变边缘算力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194560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578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3,500 处局所改 AI Edge 节点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31520" y="3127248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kt cloud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5112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2031 年前新增 1GW 以上，单站约 50MW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31520" y="4059936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151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中国移动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4439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城域 1ms / 省域 5ms / 全国 20ms 算力圈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383280" y="150876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16642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按卡计费 GPUaaS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566160" y="2194560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NTT DOCOMO Business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2578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张 GPU 起租，境内闭环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566160" y="3127248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6616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NTT docomo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35112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月起 MEC 与 GPU 云打通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566160" y="4059936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566160" y="4151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 电讯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566160" y="44439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F5 安全嵌入 AIDC 与 GPUaaS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17920" y="150876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0" y="16642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经营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0" y="2194560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中国移动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0" y="2578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月 29 日设集团级 Token 办公室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400800" y="3127248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三大运营商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400800" y="35112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套餐价 3–5 元 → 1 元 / 百万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400800" y="4059936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00800" y="4151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PLDT Smart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00800" y="44439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 比索 7 天多模型套餐，话费支付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9052560" y="150876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3544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9692640" y="16642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智能体授权通道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9235440" y="2194560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23544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 电讯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9235440" y="25786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GSMA 提议 RCS 做付款前最终确认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9235440" y="3127248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23544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KT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9235440" y="35112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Agentic On：智能体直连业务系统并回写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9235440" y="4059936"/>
            <a:ext cx="2331720" cy="0"/>
          </a:xfrm>
          <a:prstGeom prst="line">
            <a:avLst/>
          </a:prstGeom>
          <a:noFill/>
          <a:ln w="9525">
            <a:solidFill>
              <a:srgbClr val="2A394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235440" y="4151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印度 NPCI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9235440" y="44439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UPI 智能体注册体系，8 月 245.1 亿笔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48640" y="53035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31520" y="5358384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0B3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反例：东南亚运营商在出让数据中心资产换资本——Telkom 评估让出 NeutraDC 控制权（09-12），Singtel×KKR 138 亿新元完成收购 STT GDC、Singtel 占 25%（09-04）。切入对象要换成新业主的交付与运营团队。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来源：09-04 / 09-18 / 09-19 / 09-20 / 09-22 / 09-24 日报 ｜ 第一财经（引 OpenRouter）· NVIDIA 官方博客 · 工商时报 · Bloomberg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主线 · 开源权重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中国开源权重站稳，开始被别人拿来当自研基座和毛利托底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OpenRouter 9 月 7—13 日周调用量（万亿 Token）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58521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38912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4439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周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468880" y="4480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中国模型连续居首；调用量前十中国占 7 席、合计超七成（09-18）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5120640"/>
            <a:ext cx="5852160" cy="640080"/>
          </a:xfrm>
          <a:prstGeom prst="roundRect">
            <a:avLst>
              <a:gd name="adj" fmla="val 1142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51755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0B3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+31.6%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468880" y="5212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反证：同周美国模型环比增速，高于中国的 7.9%（09-20）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采用方在变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675120" y="182880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0" y="188366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25.4%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595360" y="1920240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厂商份额，居全球首位（09-18）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675120" y="2578608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0" y="2633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129.3 亿美元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8595360" y="2670048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英伟达收购 Hugging Face 金额（约），需监管批准（09-04）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675120" y="3328416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0" y="3383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张 B200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8595360" y="3419856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韩国 Xenon 基于 Qwen 3.5-397B 完成全部后训练（09-20）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75120" y="4078224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58000" y="41330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Kimi K3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8595360" y="4169664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Harvey 毛利从负五成回正所用的开源基座（09-22）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675120" y="4828032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58000" y="48828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万张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8595360" y="4919472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智谱国产芯片推理集群，上线即被打满（09-19）</a:t>
            </a:r>
            <a:endParaRPr lang="en-US" sz="95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判断：开源权重从「便宜替代」变成「基座与毛利托底」；英伟达同时握 Nemotron 与最大分发平台，本地语言模型层窗口不长。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来源：09-04 / 09-05 / 09-17 / 09-19 / 09-22 / 09-29 日报 ｜ Thai Examiner · SCMP（彭博）· Nation Thailand · DCD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专题 02 · 国家 × 市场 ｜ 泰国数据中心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泰国：申请量逼近全国用电高峰，准入一个月内从拿地变成拿电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数据中心用电申请 vs 规划 vs 全国高峰（GW，09-17）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5669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21208" y="4544568"/>
            <a:ext cx="2432304" cy="1380744"/>
          </a:xfrm>
          <a:prstGeom prst="rect">
            <a:avLst/>
          </a:prstGeom>
          <a:solidFill>
            <a:srgbClr val="16222E"/>
          </a:solidFill>
          <a:ln w="6350">
            <a:solidFill>
              <a:srgbClr val="2A3947"/>
            </a:solidFill>
            <a:prstDash val="solid"/>
          </a:ln>
        </p:spPr>
      </p:sp>
      <p:pic>
        <p:nvPicPr>
          <p:cNvPr id="10" name="Image 0" descr="E:\claude workspace\DailyAIReport\deck-template\img\s09_thai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572000"/>
            <a:ext cx="2377440" cy="1325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108960" y="45720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Gastech 2026 / Nation Thailand AI×Energy 论坛：能源部称超额申请属「幻影需求」，EGAT 另需约 10 亿美元升级电网（09-17）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67512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一个月的准入时间轴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675120" y="1920240"/>
            <a:ext cx="128016" cy="128016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90372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09-04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7589520" y="18288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曼谷暂停发放新数据中心牌照，6 个申请已批 3 个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675120" y="2651760"/>
            <a:ext cx="128016" cy="128016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90372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09-05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25603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监管委员会叫停 49 座在建数据中心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675120" y="3383280"/>
            <a:ext cx="128016" cy="128016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90372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09-17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589520" y="329184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能源部：申请 35GW 对规划 8.8GW，定性「幻影需求」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675120" y="4114800"/>
            <a:ext cx="128016" cy="128016"/>
          </a:xfrm>
          <a:prstGeom prst="ellipse">
            <a:avLst/>
          </a:prstGeom>
          <a:solidFill>
            <a:srgbClr val="00C8C8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903720" y="4023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09-22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589520" y="402336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100MW 以上拟划超大规模，能源部设用电上限，工业类须进园区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675120" y="4846320"/>
            <a:ext cx="128016" cy="128016"/>
          </a:xfrm>
          <a:prstGeom prst="ellipse">
            <a:avLst/>
          </a:prstGeom>
          <a:solidFill>
            <a:srgbClr val="F0B35A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90372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09-29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7589520" y="47548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166 个项目挂起（49 在建 + 117 待批），新规预计 10 月中旬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675120" y="5532120"/>
            <a:ext cx="4983480" cy="731520"/>
          </a:xfrm>
          <a:prstGeom prst="roundRect">
            <a:avLst>
              <a:gd name="adj" fmla="val 10000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812280" y="5577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洞察：筛选机制本身就是新的竞争界面——带客户合同、可调负荷与自备电源进场的项目先放行。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来源：09-07 / 09-11 / 09-12 / 09-15 / 09-23 / 09-27 日报 ｜ Ecobiz · 马来亚银行研报（TNGlobal）· ANTARA · TNGlobal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专题 03 · 国家 × 市场 ｜ 印尼算力与电网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印尼：需求大、电网慢、运营商在卖资产——配额比土地值钱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数据中心容量（MW，马来亚银行）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828800"/>
          <a:ext cx="2743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47472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巴淡峰值负荷（MW）</a:t>
            </a:r>
            <a:endParaRPr lang="en-US" sz="9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3474720" y="1828800"/>
          <a:ext cx="2743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521208" y="4133088"/>
            <a:ext cx="5724144" cy="1655064"/>
          </a:xfrm>
          <a:prstGeom prst="rect">
            <a:avLst/>
          </a:prstGeom>
          <a:solidFill>
            <a:srgbClr val="16222E"/>
          </a:solidFill>
          <a:ln w="6350">
            <a:solidFill>
              <a:srgbClr val="2A3947"/>
            </a:solidFill>
            <a:prstDash val="solid"/>
          </a:ln>
        </p:spPr>
      </p:sp>
      <p:pic>
        <p:nvPicPr>
          <p:cNvPr id="12" name="Image 0" descr="E:\claude workspace\DailyAIReport\deck-template\img\s09_pl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4160520"/>
            <a:ext cx="5669280" cy="1600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PLN 披露：约 13GW 潜在需求中 3,534.8MW 列优先级一可即时供电、9,460.8MW 仍在审批（Ecobiz，09-07 日报）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6446520" y="1554480"/>
            <a:ext cx="1664208" cy="4160520"/>
          </a:xfrm>
          <a:prstGeom prst="roundRect">
            <a:avLst>
              <a:gd name="adj" fmla="val 4396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6583680" y="1664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58368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13 GW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6583680" y="25603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PLN 统计的 AI 与数据中心潜在用电（09-07）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6583680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159 家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583680" y="434340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PLN 数据中心客户，用电 2378GWh（09-27）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8202168" y="1554480"/>
            <a:ext cx="1664208" cy="4160520"/>
          </a:xfrm>
          <a:prstGeom prst="roundRect">
            <a:avLst>
              <a:gd name="adj" fmla="val 439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339328" y="1664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339328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3,534.8 MW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339328" y="25603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可即时供电部分；1GW 项目需配 500kV 输电（09-07）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8339328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550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3–5 年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339328" y="434340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电网建设周期，客户只给两年（09-07）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9957816" y="1554480"/>
            <a:ext cx="1664208" cy="4160520"/>
          </a:xfrm>
          <a:prstGeom prst="roundRect">
            <a:avLst>
              <a:gd name="adj" fmla="val 4396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0094976" y="1664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0094976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845 MVA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0094976" y="256032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BDx 动土前拿到配额，640MW 园区开工（09-23）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0094976" y="38862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 亿美元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10094976" y="434340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Zankore 优先定期贷款，首期 100MW（09-11）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6446520" y="57790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洞察：Telkom 评估让出 NeutraDC 控制权（09-12），BDx 借与 Indosat、Lintasarta 合资拿配额——本地电信资产方握着拿电的钥匙。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每条谈资对应日报日期；原始链接见末页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谈资 Top 10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十句可以开口的话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5361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55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3,534.8MW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15361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“印尼 13 吉瓦需求里，能马上通电的不到三成——签了多少不算数，接上多少才算数。”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010912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09-07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172200" y="14630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15361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7556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35GW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15361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“泰国能源部自己说申请里大半是幻影需求，以后得先证明您是真需求才排得上队。”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0634472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09-17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8640" y="23774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2450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2670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元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148840" y="24505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“中国运营商的 Token 已经卖到一块钱一百万个，您的客户迟早会拿这个价来比。”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010912" y="2450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09-11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72200" y="23774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2450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2670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+20%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24505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“四年的老 GPU 续约还涨价两成——这就是银行敢拿芯片做抵押的原因。”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0634472" y="2450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09-13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8640" y="32918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3649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35844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3,000 亿美元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2148840" y="33649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“美国大厂给 AI 基建兜了 3000 亿美元的底，大部分不在资产负债表上。”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010912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09-21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172200" y="32918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0" y="33649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35844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负五成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772400" y="33649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“明星 AI 公司毛利从正五成掉到负五成，换开源模型才拉回——Token 账单能决定生死。”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0634472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09-22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48640" y="42062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4279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85800" y="44988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3,500 处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2148840" y="42793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“KT 把 3500 个局所改成算力节点——运营商最值钱的 AI 资产可能就在自己机楼里。”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010912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09-20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172200" y="42062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309360" y="4279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309360" y="44988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76.13 美元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772400" y="42793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“HBM 均价首破 70 美元，明年 HBM4 可能再涨六成——服务器预算请按偏紧做。”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10634472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09-02 / 09-24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48640" y="51206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85800" y="5193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685800" y="54132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5,180 亿美元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2148840" y="51937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“一家模型公司签了十年 5000 多亿美元算力，八成不能退——需求方在用长约锁供给。”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5010912" y="5193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09-30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172200" y="5120640"/>
            <a:ext cx="5468112" cy="822960"/>
          </a:xfrm>
          <a:prstGeom prst="roundRect">
            <a:avLst>
              <a:gd name="adj" fmla="val 8889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309360" y="5193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309360" y="54132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周</a:t>
            </a:r>
            <a:endParaRPr lang="en-US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7772400" y="5193792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“全球开发者用量榜前十里有七个中国模型，已经连续 20 周第一。”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10634472" y="5193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09-18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用法：对运营商用 2、3、7；对政府与 IDC 用 1、2、4；对金融与投资方用 4、5、9；对企业与 IT 服务商用 3、6、10。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亚太ICT MSSD · AI 洞察知识库 · 2026.09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对亚太 ICT 的战略影响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四个判断，各配一个动作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5727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电写进法条，准入看真需求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5727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166 个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泰国挂起项目；澳洲 30MW 分级或追溯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1572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81051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绿电 PPA、需求响应、用水计量、PUE 承诺打成「合规包」标准交付；10 月前逐客户核对澳洲追溯与泰国新规覆盖的项目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578608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68833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硬件涨价写进 2027 报价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2688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+65%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31455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HBM4 明年可能涨幅；台积电溢出加收 10–15%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926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年交付项目调价条款前置、物料双源；用超节点光互连省电（&gt;550kW）对冲上游涨价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3694176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80390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进损益表，客户按单位工作成本买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8039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负五成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42611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Harvey 毛利；印度 IT 服务商把 token 写进报价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3803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40416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对客报价设独立 Token 条款与用量上限；开源权重 + 自有算力写进方案做成本托底，交付带回报 KPI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" y="4809744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11A24"/>
          </a:solidFill>
          <a:ln w="12700">
            <a:solidFill>
              <a:srgbClr val="111A2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491947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运营商的 AI 资产在局所与号码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4919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3,500 处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3566160" y="5376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KT 局所；NTT 1 卡起租；SKT RCS 授权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6309360" y="4919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309360" y="515721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给东南亚运营商一份可采购清单：边缘 AIDC + 全光调度 + 按卡 GPUaaS + Token 结算，附 RCS 授权方法论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九月以后，AI 项目先过的是三张表：并网时序表、Token 成本表、残值担保表。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10177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全部条目另见知识库归档 trxmssd.github.io/ai-insights ；本页链接可点击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C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数据来源与延伸阅读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关键数字的原始出处</a:t>
            </a:r>
            <a:endParaRPr lang="en-US" sz="2600" dirty="0"/>
          </a:p>
        </p:txBody>
      </p:sp>
      <p:sp>
        <p:nvSpPr>
          <p:cNvPr id="7" name="Text 4">
            <a:hlinkClick r:id="rId1" tooltip=""/>
          </p:cNvPr>
          <p:cNvSpPr txBox="1"/>
          <p:nvPr/>
        </p:nvSpPr>
        <p:spPr>
          <a:xfrm>
            <a:off x="548640" y="1463040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印尼 PLN 13GW / 3,534.8MW（Ecobiz）</a:t>
            </a:r>
            <a:endParaRPr lang="en-US" sz="950" dirty="0"/>
          </a:p>
        </p:txBody>
      </p:sp>
      <p:sp>
        <p:nvSpPr>
          <p:cNvPr id="8" name="Text 5">
            <a:hlinkClick r:id="rId2" tooltip=""/>
          </p:cNvPr>
          <p:cNvSpPr txBox="1"/>
          <p:nvPr/>
        </p:nvSpPr>
        <p:spPr>
          <a:xfrm>
            <a:off x="6231636" y="1463040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泰国 35GW 对 8.8GW（Nation Thailand）</a:t>
            </a:r>
            <a:endParaRPr lang="en-US" sz="950" dirty="0"/>
          </a:p>
        </p:txBody>
      </p:sp>
      <p:sp>
        <p:nvSpPr>
          <p:cNvPr id="9" name="Text 6">
            <a:hlinkClick r:id="rId3" tooltip=""/>
          </p:cNvPr>
          <p:cNvSpPr txBox="1"/>
          <p:nvPr/>
        </p:nvSpPr>
        <p:spPr>
          <a:xfrm>
            <a:off x="548640" y="1746504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泰国叫停 49 座在建数据中心（SCMP）</a:t>
            </a:r>
            <a:endParaRPr lang="en-US" sz="950" dirty="0"/>
          </a:p>
        </p:txBody>
      </p:sp>
      <p:sp>
        <p:nvSpPr>
          <p:cNvPr id="10" name="Text 7">
            <a:hlinkClick r:id="rId4" tooltip=""/>
          </p:cNvPr>
          <p:cNvSpPr txBox="1"/>
          <p:nvPr/>
        </p:nvSpPr>
        <p:spPr>
          <a:xfrm>
            <a:off x="6231636" y="1746504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泰国新规 10 月中旬、166 个项目（DCD）</a:t>
            </a:r>
            <a:endParaRPr lang="en-US" sz="950" dirty="0"/>
          </a:p>
        </p:txBody>
      </p:sp>
      <p:sp>
        <p:nvSpPr>
          <p:cNvPr id="11" name="Text 8">
            <a:hlinkClick r:id="rId5" tooltip=""/>
          </p:cNvPr>
          <p:cNvSpPr txBox="1"/>
          <p:nvPr/>
        </p:nvSpPr>
        <p:spPr>
          <a:xfrm>
            <a:off x="548640" y="2029968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澳洲《Getting it right》讨论文件（PM&amp;C）</a:t>
            </a:r>
            <a:endParaRPr lang="en-US" sz="950" dirty="0"/>
          </a:p>
        </p:txBody>
      </p:sp>
      <p:sp>
        <p:nvSpPr>
          <p:cNvPr id="12" name="Text 9">
            <a:hlinkClick r:id="rId6" tooltip=""/>
          </p:cNvPr>
          <p:cNvSpPr txBox="1"/>
          <p:nvPr/>
        </p:nvSpPr>
        <p:spPr>
          <a:xfrm>
            <a:off x="6231636" y="2029968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马来西亚 TNB 8.35GW、2029 拐点（TNGlobal）</a:t>
            </a:r>
            <a:endParaRPr lang="en-US" sz="950" dirty="0"/>
          </a:p>
        </p:txBody>
      </p:sp>
      <p:sp>
        <p:nvSpPr>
          <p:cNvPr id="13" name="Text 10">
            <a:hlinkClick r:id="rId7" tooltip=""/>
          </p:cNvPr>
          <p:cNvSpPr txBox="1"/>
          <p:nvPr/>
        </p:nvSpPr>
        <p:spPr>
          <a:xfrm>
            <a:off x="548640" y="2313432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越南数据中心电价改判（TNGlobal）</a:t>
            </a:r>
            <a:endParaRPr lang="en-US" sz="950" dirty="0"/>
          </a:p>
        </p:txBody>
      </p:sp>
      <p:sp>
        <p:nvSpPr>
          <p:cNvPr id="14" name="Text 11">
            <a:hlinkClick r:id="rId8" tooltip=""/>
          </p:cNvPr>
          <p:cNvSpPr txBox="1"/>
          <p:nvPr/>
        </p:nvSpPr>
        <p:spPr>
          <a:xfrm>
            <a:off x="6231636" y="2313432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BDx 西爪哇 640MW、845MVA（TNGlobal）</a:t>
            </a:r>
            <a:endParaRPr lang="en-US" sz="950" dirty="0"/>
          </a:p>
        </p:txBody>
      </p:sp>
      <p:sp>
        <p:nvSpPr>
          <p:cNvPr id="15" name="Text 12">
            <a:hlinkClick r:id="rId9" tooltip=""/>
          </p:cNvPr>
          <p:cNvSpPr txBox="1"/>
          <p:nvPr/>
        </p:nvSpPr>
        <p:spPr>
          <a:xfrm>
            <a:off x="548640" y="2596896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韩国 8 月芯片出口、HBM 均价（SED）</a:t>
            </a:r>
            <a:endParaRPr lang="en-US" sz="950" dirty="0"/>
          </a:p>
        </p:txBody>
      </p:sp>
      <p:sp>
        <p:nvSpPr>
          <p:cNvPr id="16" name="Text 13">
            <a:hlinkClick r:id="rId10" tooltip=""/>
          </p:cNvPr>
          <p:cNvSpPr txBox="1"/>
          <p:nvPr/>
        </p:nvSpPr>
        <p:spPr>
          <a:xfrm>
            <a:off x="6231636" y="2596896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三星 HBM 份额 33%（SED / Counterpoint）</a:t>
            </a:r>
            <a:endParaRPr lang="en-US" sz="950" dirty="0"/>
          </a:p>
        </p:txBody>
      </p:sp>
      <p:sp>
        <p:nvSpPr>
          <p:cNvPr id="17" name="Text 14">
            <a:hlinkClick r:id="rId11" tooltip=""/>
          </p:cNvPr>
          <p:cNvSpPr txBox="1"/>
          <p:nvPr/>
        </p:nvSpPr>
        <p:spPr>
          <a:xfrm>
            <a:off x="548640" y="2880360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HBM4 明年涨约 65%（BusinessKorea）</a:t>
            </a:r>
            <a:endParaRPr lang="en-US" sz="950" dirty="0"/>
          </a:p>
        </p:txBody>
      </p:sp>
      <p:sp>
        <p:nvSpPr>
          <p:cNvPr id="18" name="Text 15">
            <a:hlinkClick r:id="rId12" tooltip=""/>
          </p:cNvPr>
          <p:cNvSpPr txBox="1"/>
          <p:nvPr/>
        </p:nvSpPr>
        <p:spPr>
          <a:xfrm>
            <a:off x="6231636" y="2880360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台积电 2027 报价与溢出加价（Tech Times）</a:t>
            </a:r>
            <a:endParaRPr lang="en-US" sz="950" dirty="0"/>
          </a:p>
        </p:txBody>
      </p:sp>
      <p:sp>
        <p:nvSpPr>
          <p:cNvPr id="19" name="Text 16">
            <a:hlinkClick r:id="rId13" tooltip=""/>
          </p:cNvPr>
          <p:cNvSpPr txBox="1"/>
          <p:nvPr/>
        </p:nvSpPr>
        <p:spPr>
          <a:xfrm>
            <a:off x="548640" y="3163824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B200 约 75% 成本来自封装（DigiTimes）</a:t>
            </a:r>
            <a:endParaRPr lang="en-US" sz="950" dirty="0"/>
          </a:p>
        </p:txBody>
      </p:sp>
      <p:sp>
        <p:nvSpPr>
          <p:cNvPr id="20" name="Text 17">
            <a:hlinkClick r:id="rId14" tooltip=""/>
          </p:cNvPr>
          <p:cNvSpPr txBox="1"/>
          <p:nvPr/>
        </p:nvSpPr>
        <p:spPr>
          <a:xfrm>
            <a:off x="6231636" y="3163824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华为 OceanStor M900 64PB KV 缓存（华为）</a:t>
            </a:r>
            <a:endParaRPr lang="en-US" sz="950" dirty="0"/>
          </a:p>
        </p:txBody>
      </p:sp>
      <p:sp>
        <p:nvSpPr>
          <p:cNvPr id="21" name="Text 18">
            <a:hlinkClick r:id="rId15" tooltip=""/>
          </p:cNvPr>
          <p:cNvSpPr txBox="1"/>
          <p:nvPr/>
        </p:nvSpPr>
        <p:spPr>
          <a:xfrm>
            <a:off x="548640" y="3447288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Omdia：Token 套餐降至一元每百万（C114）</a:t>
            </a:r>
            <a:endParaRPr lang="en-US" sz="950" dirty="0"/>
          </a:p>
        </p:txBody>
      </p:sp>
      <p:sp>
        <p:nvSpPr>
          <p:cNvPr id="22" name="Text 19">
            <a:hlinkClick r:id="rId16" tooltip=""/>
          </p:cNvPr>
          <p:cNvSpPr txBox="1"/>
          <p:nvPr/>
        </p:nvSpPr>
        <p:spPr>
          <a:xfrm>
            <a:off x="6231636" y="3447288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北京「Token 贷」近 20 亿元（IT之家）</a:t>
            </a:r>
            <a:endParaRPr lang="en-US" sz="950" dirty="0"/>
          </a:p>
        </p:txBody>
      </p:sp>
      <p:sp>
        <p:nvSpPr>
          <p:cNvPr id="23" name="Text 20">
            <a:hlinkClick r:id="rId17" tooltip=""/>
          </p:cNvPr>
          <p:cNvSpPr txBox="1"/>
          <p:nvPr/>
        </p:nvSpPr>
        <p:spPr>
          <a:xfrm>
            <a:off x="548640" y="3730752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Harvey 转向开源模型（Bloomberg）</a:t>
            </a:r>
            <a:endParaRPr lang="en-US" sz="950" dirty="0"/>
          </a:p>
        </p:txBody>
      </p:sp>
      <p:sp>
        <p:nvSpPr>
          <p:cNvPr id="24" name="Text 21">
            <a:hlinkClick r:id="rId18" tooltip=""/>
          </p:cNvPr>
          <p:cNvSpPr txBox="1"/>
          <p:nvPr/>
        </p:nvSpPr>
        <p:spPr>
          <a:xfrm>
            <a:off x="6231636" y="3730752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印度 IT 服务商重定价 token（Mint）</a:t>
            </a:r>
            <a:endParaRPr lang="en-US" sz="950" dirty="0"/>
          </a:p>
        </p:txBody>
      </p:sp>
      <p:sp>
        <p:nvSpPr>
          <p:cNvPr id="25" name="Text 22">
            <a:hlinkClick r:id="rId19" tooltip=""/>
          </p:cNvPr>
          <p:cNvSpPr txBox="1"/>
          <p:nvPr/>
        </p:nvSpPr>
        <p:spPr>
          <a:xfrm>
            <a:off x="548640" y="4014216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Opus 5.5 降价（TechCrunch）</a:t>
            </a:r>
            <a:endParaRPr lang="en-US" sz="950" dirty="0"/>
          </a:p>
        </p:txBody>
      </p:sp>
      <p:sp>
        <p:nvSpPr>
          <p:cNvPr id="26" name="Text 23">
            <a:hlinkClick r:id="rId20" tooltip=""/>
          </p:cNvPr>
          <p:cNvSpPr txBox="1"/>
          <p:nvPr/>
        </p:nvSpPr>
        <p:spPr>
          <a:xfrm>
            <a:off x="6231636" y="4014216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九章云极 DCU 计费递表（每日经济新闻）</a:t>
            </a:r>
            <a:endParaRPr lang="en-US" sz="950" dirty="0"/>
          </a:p>
        </p:txBody>
      </p:sp>
      <p:sp>
        <p:nvSpPr>
          <p:cNvPr id="27" name="Text 24">
            <a:hlinkClick r:id="rId21" tooltip=""/>
          </p:cNvPr>
          <p:cNvSpPr txBox="1"/>
          <p:nvPr/>
        </p:nvSpPr>
        <p:spPr>
          <a:xfrm>
            <a:off x="548640" y="4297680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甲骨文 GPU 利用率 97.9%（DCD）</a:t>
            </a:r>
            <a:endParaRPr lang="en-US" sz="950" dirty="0"/>
          </a:p>
        </p:txBody>
      </p:sp>
      <p:sp>
        <p:nvSpPr>
          <p:cNvPr id="28" name="Text 25">
            <a:hlinkClick r:id="rId22" tooltip=""/>
          </p:cNvPr>
          <p:cNvSpPr txBox="1"/>
          <p:nvPr/>
        </p:nvSpPr>
        <p:spPr>
          <a:xfrm>
            <a:off x="6231636" y="4297680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3,000 亿美元表外残值担保（FT）</a:t>
            </a:r>
            <a:endParaRPr lang="en-US" sz="950" dirty="0"/>
          </a:p>
        </p:txBody>
      </p:sp>
      <p:sp>
        <p:nvSpPr>
          <p:cNvPr id="29" name="Text 26">
            <a:hlinkClick r:id="rId23" tooltip=""/>
          </p:cNvPr>
          <p:cNvSpPr txBox="1"/>
          <p:nvPr/>
        </p:nvSpPr>
        <p:spPr>
          <a:xfrm>
            <a:off x="548640" y="4581144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日本寿险成美国 AI 数据中心贷款方（SED）</a:t>
            </a:r>
            <a:endParaRPr lang="en-US" sz="950" dirty="0"/>
          </a:p>
        </p:txBody>
      </p:sp>
      <p:sp>
        <p:nvSpPr>
          <p:cNvPr id="30" name="Text 27">
            <a:hlinkClick r:id="rId24" tooltip=""/>
          </p:cNvPr>
          <p:cNvSpPr txBox="1"/>
          <p:nvPr/>
        </p:nvSpPr>
        <p:spPr>
          <a:xfrm>
            <a:off x="6231636" y="4581144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软银 110 亿美元高收益债（Japan Times）</a:t>
            </a:r>
            <a:endParaRPr lang="en-US" sz="950" dirty="0"/>
          </a:p>
        </p:txBody>
      </p:sp>
      <p:sp>
        <p:nvSpPr>
          <p:cNvPr id="31" name="Text 28">
            <a:hlinkClick r:id="rId25" tooltip=""/>
          </p:cNvPr>
          <p:cNvSpPr txBox="1"/>
          <p:nvPr/>
        </p:nvSpPr>
        <p:spPr>
          <a:xfrm>
            <a:off x="548640" y="4864608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新加坡金管局 AI 回调风险（TNGlobal）</a:t>
            </a:r>
            <a:endParaRPr lang="en-US" sz="950" dirty="0"/>
          </a:p>
        </p:txBody>
      </p:sp>
      <p:sp>
        <p:nvSpPr>
          <p:cNvPr id="32" name="Text 29">
            <a:hlinkClick r:id="rId26" tooltip=""/>
          </p:cNvPr>
          <p:cNvSpPr txBox="1"/>
          <p:nvPr/>
        </p:nvSpPr>
        <p:spPr>
          <a:xfrm>
            <a:off x="6231636" y="4864608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招股书 5,180 亿美元（CNBC）</a:t>
            </a:r>
            <a:endParaRPr lang="en-US" sz="950" dirty="0"/>
          </a:p>
        </p:txBody>
      </p:sp>
      <p:sp>
        <p:nvSpPr>
          <p:cNvPr id="33" name="Text 30">
            <a:hlinkClick r:id="rId27" tooltip=""/>
          </p:cNvPr>
          <p:cNvSpPr txBox="1"/>
          <p:nvPr/>
        </p:nvSpPr>
        <p:spPr>
          <a:xfrm>
            <a:off x="548640" y="5148072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KT 3,500 处局所（SED）</a:t>
            </a:r>
            <a:endParaRPr lang="en-US" sz="950" dirty="0"/>
          </a:p>
        </p:txBody>
      </p:sp>
      <p:sp>
        <p:nvSpPr>
          <p:cNvPr id="34" name="Text 31">
            <a:hlinkClick r:id="rId28" tooltip=""/>
          </p:cNvPr>
          <p:cNvSpPr txBox="1"/>
          <p:nvPr/>
        </p:nvSpPr>
        <p:spPr>
          <a:xfrm>
            <a:off x="6231636" y="5148072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中国移动智算收入 +130.1%（21 世纪经济报道）</a:t>
            </a:r>
            <a:endParaRPr lang="en-US" sz="950" dirty="0"/>
          </a:p>
        </p:txBody>
      </p:sp>
      <p:sp>
        <p:nvSpPr>
          <p:cNvPr id="35" name="Text 32">
            <a:hlinkClick r:id="rId29" tooltip=""/>
          </p:cNvPr>
          <p:cNvSpPr txBox="1"/>
          <p:nvPr/>
        </p:nvSpPr>
        <p:spPr>
          <a:xfrm>
            <a:off x="548640" y="5431536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 电讯 GSMA RCS 智能体确认（SED）</a:t>
            </a:r>
            <a:endParaRPr lang="en-US" sz="950" dirty="0"/>
          </a:p>
        </p:txBody>
      </p:sp>
      <p:sp>
        <p:nvSpPr>
          <p:cNvPr id="36" name="Text 33">
            <a:hlinkClick r:id="rId30" tooltip=""/>
          </p:cNvPr>
          <p:cNvSpPr txBox="1"/>
          <p:nvPr/>
        </p:nvSpPr>
        <p:spPr>
          <a:xfrm>
            <a:off x="6231636" y="5431536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Singtel×KKR 完成收购 STT GDC（TNGlobal）</a:t>
            </a:r>
            <a:endParaRPr lang="en-US" sz="950" dirty="0"/>
          </a:p>
        </p:txBody>
      </p:sp>
      <p:sp>
        <p:nvSpPr>
          <p:cNvPr id="37" name="Text 34">
            <a:hlinkClick r:id="rId31" tooltip=""/>
          </p:cNvPr>
          <p:cNvSpPr txBox="1"/>
          <p:nvPr/>
        </p:nvSpPr>
        <p:spPr>
          <a:xfrm>
            <a:off x="548640" y="5715000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OpenRouter 中国连续 20 周居首（第一财经）</a:t>
            </a:r>
            <a:endParaRPr lang="en-US" sz="950" dirty="0"/>
          </a:p>
        </p:txBody>
      </p:sp>
      <p:sp>
        <p:nvSpPr>
          <p:cNvPr id="38" name="Text 35">
            <a:hlinkClick r:id="rId32" tooltip=""/>
          </p:cNvPr>
          <p:cNvSpPr txBox="1"/>
          <p:nvPr/>
        </p:nvSpPr>
        <p:spPr>
          <a:xfrm>
            <a:off x="6231636" y="5715000"/>
            <a:ext cx="5408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4DE8D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英伟达收购 Hugging Face（NVIDIA）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2026-10-01T14:12:47Z</dcterms:created>
  <dcterms:modified xsi:type="dcterms:W3CDTF">2026-10-01T14:12:47Z</dcterms:modified>
</cp:coreProperties>
</file>