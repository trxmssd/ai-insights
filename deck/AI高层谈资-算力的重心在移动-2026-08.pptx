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各位好，这份材料的主题只有一句话：算力的重心在移动。过去两周，亚太 AI 产业换了记分牌——大家比拼的不再是模型分数，而是电力、存储和国家资本。接下来的每一个数字，都可以回溯到当日情报原文，数据窗口是七月二十五日到八月七日，共十三期日报、三百四十四条情报。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先看数字，再谈判断。六个数字里最重要的三个：中国自研模型已经占到 OpenRouter 全球调用量的百分之六十三点五；全球数据中心排队等电的规模超过八百吉瓦；南亚科七月营收同比增长超过七倍，存储已经全面缺货。另外三个数字——九大云商八千八百六十七亿美元的年资本开支、韩国 SKT 与英伟达共建的两吉瓦 AI 工厂、印尼一周承接一点三六吉瓦——共同指向一件事：格局在变。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第一部分，三个判断。我们把这两周的情报收敛成三句话：开源权重的天平在倾斜，算力正在国家化，瓶颈在接力。逐一来看。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判断一：全球每三次 AI 调用，约有两次跑在中国模型上。左边这张图是 OpenRouter 近二十八天的调用份额，中国自研模型占百分之六十三点五，周词元调用量已经连续十三周全球第一。支撑这个判断的还有三条：规模上限被中国刷新，Kimi K3 开放了二点八万亿参数的完整权重；对手也在用，Hugging Face、日本 Sakana AI 都以中国开源模型为基座；共识已经到了部长级，APEC 二十一个经济体首次就开源 AI 达成《成都声明》。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判断二：算力写进了国家资本结构。韩美芯片合作包九千五百亿美元，中国"六网"工程今年算力网投资两万亿元，NTT Data 拟投一点五万亿日元把日本算力提到一吉瓦——三个国家用的都是国家级资本。更值得注意的是下面这行：运营商的新账本已经开始兑现，SK 电讯 AI 数据中心营收同比增长九成多，Indosat 半年收入三千三百万美元超过去年全年。运营商正在从"用 AI"变成"卖 AI 产能"。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判断三的上半场是电。左图是排队等待接入的电力：德州 ERCOT 半年内从二百三十三吉瓦翻倍到四百七十四吉瓦，全球排队总量超过八百吉瓦——相当于四十个三峡在排队。印度测算未来新增二十六点三吉瓦用电，泰国单个项目就要五百兆瓦，德州已经要求新建数据中心先过电网审计。AI 现在缺的不是 GPU，是变电站。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判断三的下半场，是内存和钱。左图三根柱子：南亚科七月营收同比涨百分之七百一十九点六，长鑫科创板首日涨百分之四百七十一点五九，韩国半导体出口同比涨百分之一百七十九。三星把六到七成产能锁进含价格下限的五年长约，短缺看到二〇二八年。钱这边，英伟达拟为 OpenAI 提供约二千五百亿美元担保，CoreWeave 的信用违约互换一度突破八百五十五个基点——AI 基建的信用结构，第一次被债券市场直接定价。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第二部分回到亚太。这里正在发生的事情是：算力地图和准入规则被同时重画。三个关键词：落点外扩、规则时代、回报检验。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先看地图。新增算力正在越过传统枢纽：柔佛以八千五百四十二兆瓦的规划储备居亚太第一，空置率只有百分之零点七；印尼一周签下一点三六吉瓦，CoreWeave 进亚太的第一站选了印尼而不是新加坡；印度定下二〇三〇年十二吉瓦的目标。反观新加坡，在运一点四六吉瓦仍是东南亚第一，但在建只剩二十兆瓦，增量近乎停滞。电力可得性正在取代区位，成为选址的第一变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规则也换了考卷。泰国设了四项质量门槛，外加每兆瓦四百五十万泰铢的电力保函；马来西亚改用经济价值计分卡评估外资数据中心；印度电信数据出境零例外禁令，澳洲要求自筹电力并承担全额并网成本；新加坡把 AI 责任压到董事会层级，欧盟 AI 法案可按全球营收计罚。准入逻辑变成了三个问题：电从哪来、水怎么省、本地得到什么。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关于泡沫的争论，答案藏在两本账的差值里。左边投入的账越来越重：微软全年资本支出一千一百五十九点五亿美元，Meta 单季自由现金流只剩七点八四亿美元，韩台股市已经开始用脚投票。右边回报的账开始出现：Airtel 三万名工程师改用端侧模型后每年数亿卢比云端开销归零，Westpac 累计节省超过十五万个工时，Grab 交付提速三成并因此上调全年指引。对我们的启示是：客户预算审批正在变严，方案叙事要从能力清单切换到单位任务成本和可核算回报。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最后一部分，十句可以开口的话。高层交流也好，发布会开场也好，每句话背后都有一个当天可查证的数字，可以直接引用。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前五句。第一句讲开源份额：全球每三次 AI 调用约两次跑在中国开源模型上。第二句讲韩国模式：运营商不再是用 AI 的电信公司，而是卖 AI 产能的基础设施企业。第三句讲电：八百吉瓦排队，相当于四十个三峡。第四句讲落点：新加坡在建只剩二十兆瓦，增量都去了印尼和柔佛。第五句讲存储：这一轮最先赚到钱的不是做模型的，是做内存的。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后五句。第六句讲钱：AI 基建第一次被债券市场定价，拼的是融资结构。第七句讲规则：审批不再问投多少钱，改问电从哪来、本地得到什么。第八句讲端侧：推理正从云端搬进口袋，Airtel 第一次把 AI 账单做成了负数。第九句讲降价：Opus 5 腰斩、GPT-5.6 降八成，记分牌从跑分变成了单位任务成本。第十句讲组合：开放权重加自主算力，正好咬合亚太各国的主权 AI 诉求。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收束成一句话：谁解决电与内存，谁定义下一轮 AI。下期我们追踪四件事：中国开源份额是否突破七成、韩国模式会不会被东南亚复制、存储长约如何推高亚太造价、以及印尼那一点三六吉瓦的开工进度。这份材料每天更新，欢迎随时取用。谢谢。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ac-ai-briefing-20260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ac-ai-briefing-20260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60d6fe8b10cea3e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6c9d671b038fb99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8a43d9f8155a113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ccf2cd7fa7bc592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b3d9fc581b3eecd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53500" y="571500"/>
            <a:ext cx="2857500" cy="1266825"/>
            <a:chOff x="8953500" y="571500"/>
            <a:chExt cx="2857500" cy="1266825"/>
          </a:xfrm>
        </p:grpSpPr>
        <p:sp>
          <p:nvSpPr>
            <p:cNvPr id="2" name="Line 2"/>
            <p:cNvSpPr/>
            <p:nvPr/>
          </p:nvSpPr>
          <p:spPr>
            <a:xfrm>
              <a:off x="8953500" y="5715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9525000" y="9906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1">
                  <a:alpha val="22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0096500" y="1409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0668000" y="18288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chemeClr val="accent1">
                  <a:alpha val="9000"/>
                </a:scheme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00100" y="1432560"/>
            <a:ext cx="4694225" cy="234696"/>
            <a:chOff x="800100" y="1432560"/>
            <a:chExt cx="4694225" cy="234696"/>
          </a:xfrm>
        </p:grpSpPr>
        <p:sp>
          <p:nvSpPr>
            <p:cNvPr id="7" name="Line 7"/>
            <p:cNvSpPr/>
            <p:nvPr/>
          </p:nvSpPr>
          <p:spPr>
            <a:xfrm>
              <a:off x="800100" y="15049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1204" y="1432560"/>
              <a:ext cx="42431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3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APAC ICT · AI EXECUTIVE BRIEFING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1050" y="2082165"/>
            <a:ext cx="4238625" cy="2266950"/>
            <a:chOff x="781050" y="2082165"/>
            <a:chExt cx="4238625" cy="2266950"/>
          </a:xfrm>
        </p:grpSpPr>
        <p:sp>
          <p:nvSpPr>
            <p:cNvPr id="10" name="TextBox 10"/>
            <p:cNvSpPr txBox="1"/>
            <p:nvPr/>
          </p:nvSpPr>
          <p:spPr>
            <a:xfrm>
              <a:off x="781050" y="2082165"/>
              <a:ext cx="4238625" cy="2266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8250"/>
                </a:lnSpc>
              </a:pPr>
              <a:r>
                <a:rPr lang="zh-CN" sz="6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算力的重心</a:t>
              </a:r>
              <a:br/>
              <a:r>
                <a:rPr lang="zh-CN" sz="6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在</a:t>
              </a:r>
              <a:r>
                <a:rPr lang="zh-CN" sz="63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移动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92480" y="4619625"/>
            <a:ext cx="6406515" cy="617220"/>
            <a:chOff x="792480" y="4619625"/>
            <a:chExt cx="6406515" cy="617220"/>
          </a:xfrm>
        </p:grpSpPr>
        <p:sp>
          <p:nvSpPr>
            <p:cNvPr id="12" name="TextBox 12"/>
            <p:cNvSpPr txBox="1"/>
            <p:nvPr/>
          </p:nvSpPr>
          <p:spPr>
            <a:xfrm>
              <a:off x="792480" y="4619625"/>
              <a:ext cx="640651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从模型分数到电力、存储与国家资本——过去两周，亚太 AI 产业换了记分牌。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本材料的每一个数字，都可回溯到当日情报原文。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14" name="Line 14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5666" y="6630352"/>
              <a:ext cx="2438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亚太ICT MSSD · AI 洞察知识库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58810" y="6630352"/>
              <a:ext cx="3657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数据窗口 2026.07.25 – 08.07 ｜ 13 期日报 · 344 条情报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5760" y="556260"/>
            <a:ext cx="4062984" cy="944880"/>
            <a:chOff x="365760" y="556260"/>
            <a:chExt cx="4062984" cy="944880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两周 · 六个数字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914400"/>
              <a:ext cx="40629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先看数字，</a:t>
              </a:r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再谈判断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1950" y="1676400"/>
            <a:ext cx="3676650" cy="1604201"/>
            <a:chOff x="361950" y="1676400"/>
            <a:chExt cx="3676650" cy="1604201"/>
          </a:xfrm>
        </p:grpSpPr>
        <p:sp>
          <p:nvSpPr>
            <p:cNvPr id="6" name="Line 6"/>
            <p:cNvSpPr/>
            <p:nvPr/>
          </p:nvSpPr>
          <p:spPr>
            <a:xfrm>
              <a:off x="381000" y="16764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61950" y="1813560"/>
              <a:ext cx="180045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63.5%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4142" y="2502218"/>
              <a:ext cx="28254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OpenRouter 全球 AI 调用量中，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中国自研模型的份额——调用榜前五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被小米、DeepSeek、混元、智谱包揽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48150" y="1676400"/>
            <a:ext cx="3676650" cy="1604201"/>
            <a:chOff x="4248150" y="1676400"/>
            <a:chExt cx="3676650" cy="1604201"/>
          </a:xfrm>
        </p:grpSpPr>
        <p:sp>
          <p:nvSpPr>
            <p:cNvPr id="10" name="Line 10"/>
            <p:cNvSpPr/>
            <p:nvPr/>
          </p:nvSpPr>
          <p:spPr>
            <a:xfrm>
              <a:off x="4267200" y="16764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48150" y="1813560"/>
              <a:ext cx="279471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800 GW+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60342" y="2502218"/>
              <a:ext cx="249116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全球 AI 数据中心排队等待接入的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电力总量，德州 ERCOT 半年内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 233GW 涨到 474GW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134350" y="1676400"/>
            <a:ext cx="3676650" cy="1347026"/>
            <a:chOff x="8134350" y="1676400"/>
            <a:chExt cx="3676650" cy="1347026"/>
          </a:xfrm>
        </p:grpSpPr>
        <p:sp>
          <p:nvSpPr>
            <p:cNvPr id="14" name="Line 14"/>
            <p:cNvSpPr/>
            <p:nvPr/>
          </p:nvSpPr>
          <p:spPr>
            <a:xfrm>
              <a:off x="8153400" y="16764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4350" y="1813560"/>
              <a:ext cx="33238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8867 亿美元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6542" y="2502218"/>
              <a:ext cx="22425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九大云服务商 2026 年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资本支出总额，同比仍在加速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1950" y="4057650"/>
            <a:ext cx="3676650" cy="1604201"/>
            <a:chOff x="361950" y="4057650"/>
            <a:chExt cx="3676650" cy="1604201"/>
          </a:xfrm>
        </p:grpSpPr>
        <p:sp>
          <p:nvSpPr>
            <p:cNvPr id="18" name="Line 18"/>
            <p:cNvSpPr/>
            <p:nvPr/>
          </p:nvSpPr>
          <p:spPr>
            <a:xfrm>
              <a:off x="381000" y="40576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1950" y="4194810"/>
              <a:ext cx="245760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+719.6%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4142" y="4883468"/>
              <a:ext cx="26540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南亚科 7 月营收同比——AI 需求造成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存储"全面性缺货"，三星判断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短缺延续到 2028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48150" y="4057650"/>
            <a:ext cx="3676650" cy="1604201"/>
            <a:chOff x="4248150" y="4057650"/>
            <a:chExt cx="3676650" cy="1604201"/>
          </a:xfrm>
        </p:grpSpPr>
        <p:sp>
          <p:nvSpPr>
            <p:cNvPr id="22" name="Line 22"/>
            <p:cNvSpPr/>
            <p:nvPr/>
          </p:nvSpPr>
          <p:spPr>
            <a:xfrm>
              <a:off x="4267200" y="40576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48150" y="4194810"/>
              <a:ext cx="15977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 GW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0342" y="4883468"/>
              <a:ext cx="27740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 电讯与英伟达意向共建的 AI 工厂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规模，韩国把"运营商即算力运营方"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写进国家资本结构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34350" y="4057650"/>
            <a:ext cx="3676650" cy="1604201"/>
            <a:chOff x="8134350" y="4057650"/>
            <a:chExt cx="3676650" cy="1604201"/>
          </a:xfrm>
        </p:grpSpPr>
        <p:sp>
          <p:nvSpPr>
            <p:cNvPr id="26" name="Line 26"/>
            <p:cNvSpPr/>
            <p:nvPr/>
          </p:nvSpPr>
          <p:spPr>
            <a:xfrm>
              <a:off x="8153400" y="40576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34350" y="4194810"/>
              <a:ext cx="279471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1.36 GW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6542" y="4883468"/>
              <a:ext cx="29026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印尼一周内承接的签约算力（Zankore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1GW + CoreWeave 360MW）——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亚太算力地图正在重画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30" name="Line 30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5666" y="6630352"/>
              <a:ext cx="2318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全部数字出自每日 AI 洞察日报归档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81050" y="1143000"/>
            <a:ext cx="2171700" cy="2876550"/>
            <a:chOff x="781050" y="1143000"/>
            <a:chExt cx="2171700" cy="2876550"/>
          </a:xfrm>
        </p:grpSpPr>
        <p:sp>
          <p:nvSpPr>
            <p:cNvPr id="2" name="TextBox 2"/>
            <p:cNvSpPr txBox="1"/>
            <p:nvPr/>
          </p:nvSpPr>
          <p:spPr>
            <a:xfrm>
              <a:off x="781050" y="1143000"/>
              <a:ext cx="2171700" cy="287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0" dirty="0">
                  <a:ln w="19050">
                    <a:solidFill>
                      <a:schemeClr val="accent1">
                        <a:alphaMod val="55000"/>
                      </a:schemeClr>
                    </a:solidFill>
                  </a:ln>
                  <a:noFill/>
                  <a:latin typeface="+mj-lt"/>
                  <a:ea typeface="+mj-ea"/>
                  <a:cs typeface="+mj-cs"/>
                </a:rPr>
                <a:t>壹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1050" y="3753802"/>
            <a:ext cx="5481980" cy="790575"/>
            <a:chOff x="781050" y="3753802"/>
            <a:chExt cx="5481980" cy="790575"/>
          </a:xfrm>
        </p:grpSpPr>
        <p:sp>
          <p:nvSpPr>
            <p:cNvPr id="4" name="TextBox 4"/>
            <p:cNvSpPr txBox="1"/>
            <p:nvPr/>
          </p:nvSpPr>
          <p:spPr>
            <a:xfrm>
              <a:off x="781050" y="3753802"/>
              <a:ext cx="548198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三个判断：</a:t>
              </a:r>
              <a:r>
                <a:rPr lang="zh-CN" sz="4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格局变了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10768" y="4851082"/>
            <a:ext cx="4990300" cy="322707"/>
            <a:chOff x="810768" y="4851082"/>
            <a:chExt cx="4990300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810768" y="4851082"/>
              <a:ext cx="49903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开源权重的天平 · 算力的国家化 · 瓶颈的接力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8" name="Line 8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5666" y="6630352"/>
              <a:ext cx="313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格局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5760" y="556260"/>
            <a:ext cx="9652483" cy="944880"/>
            <a:chOff x="365760" y="556260"/>
            <a:chExt cx="9652483" cy="944880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判断一 · 开源权重的天平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914400"/>
              <a:ext cx="965248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全球每三次 AI 调用，</a:t>
              </a:r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约两次跑在中国模型上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1428750"/>
            <a:ext cx="5854065" cy="4810125"/>
            <a:chOff x="381000" y="1428750"/>
            <a:chExt cx="5854065" cy="4810125"/>
          </a:xfrm>
        </p:grpSpPr>
        <p:sp>
          <p:nvSpPr>
            <p:cNvPr id="6" name="Rectangle 6"/>
            <p:cNvSpPr/>
            <p:nvPr/>
          </p:nvSpPr>
          <p:spPr>
            <a:xfrm>
              <a:off x="381000" y="1428750"/>
              <a:ext cx="5854065" cy="4810125"/>
            </a:xfrm>
            <a:prstGeom prst="rect">
              <a:avLst/>
            </a:pr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1428750"/>
              <a:ext cx="5854065" cy="4810125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6572250" y="1428750"/>
            <a:ext cx="5238750" cy="1504950"/>
            <a:chOff x="6572250" y="1428750"/>
            <a:chExt cx="5238750" cy="1504950"/>
          </a:xfrm>
        </p:grpSpPr>
        <p:sp>
          <p:nvSpPr>
            <p:cNvPr id="9" name="Rectangle 9"/>
            <p:cNvSpPr/>
            <p:nvPr/>
          </p:nvSpPr>
          <p:spPr>
            <a:xfrm>
              <a:off x="6572250" y="1428750"/>
              <a:ext cx="5238750" cy="1504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93230" y="16287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规模上限被中国刷新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3992" y="1968818"/>
              <a:ext cx="323697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Kimi K3 开放完整权重，2.8 万亿参数为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全球开放权重之最；华为开源 5050 亿参数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openPangu-2.0-Pro，昇腾原生训练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72250" y="3067050"/>
            <a:ext cx="5238750" cy="1504950"/>
            <a:chOff x="6572250" y="3067050"/>
            <a:chExt cx="5238750" cy="1504950"/>
          </a:xfrm>
        </p:grpSpPr>
        <p:sp>
          <p:nvSpPr>
            <p:cNvPr id="13" name="Rectangle 13"/>
            <p:cNvSpPr/>
            <p:nvPr/>
          </p:nvSpPr>
          <p:spPr>
            <a:xfrm>
              <a:off x="6572250" y="3067050"/>
              <a:ext cx="5238750" cy="1504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93230" y="32670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对手也在用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3992" y="3607118"/>
              <a:ext cx="3279839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Hugging Face 用 GLM-5.2 完成攻击取证；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日本 Sakana AI 以中国开源模型为基座；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近 200 家美国科技公司联名反对禁用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72250" y="4705350"/>
            <a:ext cx="5238750" cy="1504950"/>
            <a:chOff x="6572250" y="4705350"/>
            <a:chExt cx="5238750" cy="1504950"/>
          </a:xfrm>
        </p:grpSpPr>
        <p:sp>
          <p:nvSpPr>
            <p:cNvPr id="17" name="Rectangle 17"/>
            <p:cNvSpPr/>
            <p:nvPr/>
          </p:nvSpPr>
          <p:spPr>
            <a:xfrm>
              <a:off x="6572250" y="4705350"/>
              <a:ext cx="5238750" cy="1504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93230" y="4905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共识已到部长级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3992" y="5245418"/>
              <a:ext cx="291122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APEC 21 个经济体通过《成都声明》，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首次就开源 AI 达成部长级共识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21" name="Line 21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5666" y="6630352"/>
              <a:ext cx="3085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数据出处：08-03 / 07-31 / 07-25 / 08-01 日报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5760" y="556260"/>
            <a:ext cx="5951220" cy="1440180"/>
            <a:chOff x="365760" y="556260"/>
            <a:chExt cx="5951220" cy="1440180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18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判断二 · 算力的国家化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914400"/>
              <a:ext cx="5951220" cy="1082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算力写进了国家资本结构，</a:t>
              </a:r>
              <a:br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运营商从"用 AI"变成</a:t>
              </a:r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"卖 AI 产能"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1950" y="2209800"/>
            <a:ext cx="3676650" cy="1528001"/>
            <a:chOff x="361950" y="2209800"/>
            <a:chExt cx="3676650" cy="1528001"/>
          </a:xfrm>
        </p:grpSpPr>
        <p:sp>
          <p:nvSpPr>
            <p:cNvPr id="6" name="Line 6"/>
            <p:cNvSpPr/>
            <p:nvPr/>
          </p:nvSpPr>
          <p:spPr>
            <a:xfrm>
              <a:off x="381000" y="22098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61950" y="2308860"/>
              <a:ext cx="33238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9500 亿美元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4142" y="2978468"/>
              <a:ext cx="294551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韩美芯片供应与制造合作包；韩国政企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部署约 26 万块 GPU，国家 AI 计算中心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已动工（2028 年 1.5 万卡）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48150" y="2209800"/>
            <a:ext cx="3676650" cy="1528001"/>
            <a:chOff x="4248150" y="2209800"/>
            <a:chExt cx="3676650" cy="1528001"/>
          </a:xfrm>
        </p:grpSpPr>
        <p:sp>
          <p:nvSpPr>
            <p:cNvPr id="10" name="Line 10"/>
            <p:cNvSpPr/>
            <p:nvPr/>
          </p:nvSpPr>
          <p:spPr>
            <a:xfrm>
              <a:off x="4267200" y="22098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48150" y="2308860"/>
              <a:ext cx="23381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 万亿元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60342" y="2978468"/>
              <a:ext cx="293693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中国"六网"工程披露的 2026 年全国 AI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算力网投资规模；中国联通智算规模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已达 45EFLOPS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134350" y="2209800"/>
            <a:ext cx="3676650" cy="1280351"/>
            <a:chOff x="8134350" y="2209800"/>
            <a:chExt cx="3676650" cy="1280351"/>
          </a:xfrm>
        </p:grpSpPr>
        <p:sp>
          <p:nvSpPr>
            <p:cNvPr id="14" name="Line 14"/>
            <p:cNvSpPr/>
            <p:nvPr/>
          </p:nvSpPr>
          <p:spPr>
            <a:xfrm>
              <a:off x="8153400" y="22098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4350" y="2308860"/>
              <a:ext cx="35926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1.5 万亿日元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6542" y="2978468"/>
              <a:ext cx="240544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NTT Data 拟投入金额，2033 年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把日本 AI 算力容量提升至 1GW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1000" y="4476750"/>
            <a:ext cx="11430000" cy="1714500"/>
            <a:chOff x="381000" y="4476750"/>
            <a:chExt cx="114300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381000" y="4476750"/>
              <a:ext cx="11430000" cy="1714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000" y="4476750"/>
              <a:ext cx="28575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6280" y="4752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运营商的新账本已经开始兑现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6280" y="5172075"/>
              <a:ext cx="799719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SK 电讯 AI 数据中心营收同比 </a:t>
              </a: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+92.5%</a:t>
              </a: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｜ Indosat AI Cloud 半年收入 </a:t>
              </a: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3300 万美元</a:t>
              </a: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，超去年全年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Airtel 旗下 Nxtra 提出 </a:t>
              </a: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1GW</a:t>
              </a: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容量目标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23" name="Line 23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5666" y="6630352"/>
              <a:ext cx="3085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数据出处：07-25 / 07-28 / 08-05 / 08-06 日报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5760" y="556260"/>
            <a:ext cx="7737043" cy="944880"/>
            <a:chOff x="365760" y="556260"/>
            <a:chExt cx="7737043" cy="944880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263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判断三 · 瓶颈的接力（上）——电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914400"/>
              <a:ext cx="77370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约束从"买不到芯片"，变成</a:t>
              </a:r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"接不上电"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1428750"/>
            <a:ext cx="7086600" cy="4429125"/>
            <a:chOff x="381000" y="1428750"/>
            <a:chExt cx="7086600" cy="4429125"/>
          </a:xfrm>
        </p:grpSpPr>
        <p:sp>
          <p:nvSpPr>
            <p:cNvPr id="6" name="Rectangle 6"/>
            <p:cNvSpPr/>
            <p:nvPr/>
          </p:nvSpPr>
          <p:spPr>
            <a:xfrm>
              <a:off x="381000" y="1428750"/>
              <a:ext cx="7086600" cy="4429125"/>
            </a:xfrm>
            <a:prstGeom prst="rect">
              <a:avLst/>
            </a:pr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1428750"/>
              <a:ext cx="7086600" cy="4429125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7839075" y="1771650"/>
            <a:ext cx="2595753" cy="293370"/>
            <a:chOff x="7839075" y="1771650"/>
            <a:chExt cx="2595753" cy="293370"/>
          </a:xfrm>
        </p:grpSpPr>
        <p:sp>
          <p:nvSpPr>
            <p:cNvPr id="9" name="Ellipse 9"/>
            <p:cNvSpPr/>
            <p:nvPr/>
          </p:nvSpPr>
          <p:spPr>
            <a:xfrm>
              <a:off x="7839075" y="18383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50530" y="1771650"/>
              <a:ext cx="23842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800GW ≈ </a:t>
              </a: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40 个三峡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在排队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839075" y="2533650"/>
            <a:ext cx="2684145" cy="598170"/>
            <a:chOff x="7839075" y="2533650"/>
            <a:chExt cx="2684145" cy="598170"/>
          </a:xfrm>
        </p:grpSpPr>
        <p:sp>
          <p:nvSpPr>
            <p:cNvPr id="12" name="Ellipse 12"/>
            <p:cNvSpPr/>
            <p:nvPr/>
          </p:nvSpPr>
          <p:spPr>
            <a:xfrm>
              <a:off x="7839075" y="26003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50530" y="2533650"/>
              <a:ext cx="24726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印度测算 2031-32 年 AI 数据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中心新增 </a:t>
              </a: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26.3GW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用电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39075" y="3581400"/>
            <a:ext cx="2978658" cy="293370"/>
            <a:chOff x="7839075" y="3581400"/>
            <a:chExt cx="2978658" cy="293370"/>
          </a:xfrm>
        </p:grpSpPr>
        <p:sp>
          <p:nvSpPr>
            <p:cNvPr id="15" name="Ellipse 15"/>
            <p:cNvSpPr/>
            <p:nvPr/>
          </p:nvSpPr>
          <p:spPr>
            <a:xfrm>
              <a:off x="7839075" y="36480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0530" y="3581400"/>
              <a:ext cx="2767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泰国单个项目需求已达 </a:t>
              </a: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500MW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39075" y="4343400"/>
            <a:ext cx="2131695" cy="598170"/>
            <a:chOff x="7839075" y="4343400"/>
            <a:chExt cx="2131695" cy="598170"/>
          </a:xfrm>
        </p:grpSpPr>
        <p:sp>
          <p:nvSpPr>
            <p:cNvPr id="18" name="Ellipse 18"/>
            <p:cNvSpPr/>
            <p:nvPr/>
          </p:nvSpPr>
          <p:spPr>
            <a:xfrm>
              <a:off x="7839075" y="44100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50530" y="4343400"/>
              <a:ext cx="1920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德州要求新建数据中心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先过电网审计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21" name="Line 21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5666" y="6630352"/>
              <a:ext cx="198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数据出处：08-05 / 07-28 日报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5760" y="556260"/>
            <a:ext cx="7692238" cy="944880"/>
            <a:chOff x="365760" y="556260"/>
            <a:chExt cx="7692238" cy="944880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31824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判断三 · 瓶颈的接力（下）——存储与钱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914400"/>
              <a:ext cx="76922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"买不到内存、融不到钱"</a:t>
              </a:r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接过了接力棒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1428750"/>
            <a:ext cx="6657975" cy="4162425"/>
            <a:chOff x="381000" y="1428750"/>
            <a:chExt cx="6657975" cy="4162425"/>
          </a:xfrm>
        </p:grpSpPr>
        <p:sp>
          <p:nvSpPr>
            <p:cNvPr id="6" name="Rectangle 6"/>
            <p:cNvSpPr/>
            <p:nvPr/>
          </p:nvSpPr>
          <p:spPr>
            <a:xfrm>
              <a:off x="381000" y="1428750"/>
              <a:ext cx="6657975" cy="4162425"/>
            </a:xfrm>
            <a:prstGeom prst="rect">
              <a:avLst/>
            </a:pr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1428750"/>
              <a:ext cx="6657975" cy="4162425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7353300" y="1428750"/>
            <a:ext cx="4457700" cy="1238250"/>
            <a:chOff x="7353300" y="1428750"/>
            <a:chExt cx="4457700" cy="1238250"/>
          </a:xfrm>
        </p:grpSpPr>
        <p:sp>
          <p:nvSpPr>
            <p:cNvPr id="9" name="Rectangle 9"/>
            <p:cNvSpPr/>
            <p:nvPr/>
          </p:nvSpPr>
          <p:spPr>
            <a:xfrm>
              <a:off x="7353300" y="1428750"/>
              <a:ext cx="4457700" cy="1238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74280" y="16097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5042" y="1930718"/>
              <a:ext cx="25854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三星把六到七成产能锁进五年长约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（含价格下限），短缺看到 2028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53300" y="2819400"/>
            <a:ext cx="4457700" cy="1600200"/>
            <a:chOff x="7353300" y="2819400"/>
            <a:chExt cx="4457700" cy="1600200"/>
          </a:xfrm>
        </p:grpSpPr>
        <p:sp>
          <p:nvSpPr>
            <p:cNvPr id="13" name="Rectangle 13"/>
            <p:cNvSpPr/>
            <p:nvPr/>
          </p:nvSpPr>
          <p:spPr>
            <a:xfrm>
              <a:off x="7353300" y="2819400"/>
              <a:ext cx="4457700" cy="1600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74280" y="3000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5042" y="3321368"/>
              <a:ext cx="339128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英伟达拟为 OpenAI 提供约 2500 亿美元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担保，7500 亿交易潮引发循环融资担忧；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CoreWeave 信用违约互换一度突破 855 基点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2618" y="5810250"/>
            <a:ext cx="11438382" cy="697039"/>
            <a:chOff x="372618" y="5810250"/>
            <a:chExt cx="11438382" cy="697039"/>
          </a:xfrm>
        </p:grpSpPr>
        <p:sp>
          <p:nvSpPr>
            <p:cNvPr id="17" name="Line 17"/>
            <p:cNvSpPr/>
            <p:nvPr/>
          </p:nvSpPr>
          <p:spPr>
            <a:xfrm>
              <a:off x="381000" y="5810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2618" y="5879782"/>
              <a:ext cx="5506974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基建的信用结构，第一次被债券市场直接定价。</a:t>
              </a:r>
              <a:br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能把</a:t>
              </a:r>
              <a:r>
                <a:rPr lang="zh-CN" sz="16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"瓦特"</a:t>
              </a:r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和</a:t>
              </a:r>
              <a:r>
                <a:rPr lang="zh-CN" sz="16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"比特"</a:t>
              </a:r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一起解的厂商，才进得了下一轮牌桌。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20" name="Line 20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5666" y="6630352"/>
              <a:ext cx="3085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数据出处：07-28 / 07-31 / 08-02 / 08-06 日报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81050" y="1143000"/>
            <a:ext cx="2171700" cy="2876550"/>
            <a:chOff x="781050" y="1143000"/>
            <a:chExt cx="2171700" cy="2876550"/>
          </a:xfrm>
        </p:grpSpPr>
        <p:sp>
          <p:nvSpPr>
            <p:cNvPr id="2" name="TextBox 2"/>
            <p:cNvSpPr txBox="1"/>
            <p:nvPr/>
          </p:nvSpPr>
          <p:spPr>
            <a:xfrm>
              <a:off x="781050" y="1143000"/>
              <a:ext cx="2171700" cy="287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0" dirty="0">
                  <a:ln w="19050">
                    <a:solidFill>
                      <a:schemeClr val="accent1">
                        <a:alphaMod val="55000"/>
                      </a:schemeClr>
                    </a:solidFill>
                  </a:ln>
                  <a:noFill/>
                  <a:latin typeface="+mj-lt"/>
                  <a:ea typeface="+mj-ea"/>
                  <a:cs typeface="+mj-cs"/>
                </a:rPr>
                <a:t>贰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1050" y="3753802"/>
            <a:ext cx="7296607" cy="790575"/>
            <a:chOff x="781050" y="3753802"/>
            <a:chExt cx="7296607" cy="790575"/>
          </a:xfrm>
        </p:grpSpPr>
        <p:sp>
          <p:nvSpPr>
            <p:cNvPr id="4" name="TextBox 4"/>
            <p:cNvSpPr txBox="1"/>
            <p:nvPr/>
          </p:nvSpPr>
          <p:spPr>
            <a:xfrm>
              <a:off x="781050" y="3753802"/>
              <a:ext cx="729660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亚太：</a:t>
              </a:r>
              <a:r>
                <a:rPr lang="zh-CN" sz="4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地图与规则同时重画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10768" y="4851082"/>
            <a:ext cx="3536404" cy="322707"/>
            <a:chOff x="810768" y="4851082"/>
            <a:chExt cx="3536404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810768" y="4851082"/>
              <a:ext cx="35364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落点外扩 · 规则时代 · 回报检验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8" name="Line 8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5666" y="6630352"/>
              <a:ext cx="313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亚太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5760" y="556260"/>
            <a:ext cx="8991600" cy="944880"/>
            <a:chOff x="365760" y="556260"/>
            <a:chExt cx="8991600" cy="944880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落点外扩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914400"/>
              <a:ext cx="89916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新增算力越过传统枢纽，</a:t>
              </a:r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电力可得性取代区位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1428750"/>
            <a:ext cx="7429500" cy="4591050"/>
            <a:chOff x="381000" y="1428750"/>
            <a:chExt cx="7429500" cy="4591050"/>
          </a:xfrm>
        </p:grpSpPr>
        <p:sp>
          <p:nvSpPr>
            <p:cNvPr id="6" name="Rectangle 6"/>
            <p:cNvSpPr/>
            <p:nvPr/>
          </p:nvSpPr>
          <p:spPr>
            <a:xfrm>
              <a:off x="381000" y="1428750"/>
              <a:ext cx="7429500" cy="4591050"/>
            </a:xfrm>
            <a:prstGeom prst="rect">
              <a:avLst/>
            </a:pr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1428750"/>
              <a:ext cx="7429500" cy="459105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8153400" y="1428750"/>
            <a:ext cx="3657600" cy="2476500"/>
            <a:chOff x="8153400" y="1428750"/>
            <a:chExt cx="3657600" cy="2476500"/>
          </a:xfrm>
        </p:grpSpPr>
        <p:sp>
          <p:nvSpPr>
            <p:cNvPr id="9" name="Rectangle 9"/>
            <p:cNvSpPr/>
            <p:nvPr/>
          </p:nvSpPr>
          <p:spPr>
            <a:xfrm>
              <a:off x="8153400" y="1428750"/>
              <a:ext cx="3657600" cy="2476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4380" y="16287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下一轮主战场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75142" y="1987868"/>
              <a:ext cx="1976819" cy="1445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印尼 · 柔佛 · 印度 · 越南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（越南为次级枢纽，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在运约 148MW）</a:t>
              </a:r>
            </a:p>
            <a:p>
              <a:pPr algn="l">
                <a:lnSpc>
                  <a:spcPts val="2100"/>
                </a:lnSpc>
                <a:spcBef>
                  <a:spcPts val="900"/>
                </a:spcBef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需求集中在电力、制冷、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光互连与本地交付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46542" y="4171950"/>
            <a:ext cx="3664458" cy="727901"/>
            <a:chOff x="8146542" y="4171950"/>
            <a:chExt cx="3664458" cy="727901"/>
          </a:xfrm>
        </p:grpSpPr>
        <p:sp>
          <p:nvSpPr>
            <p:cNvPr id="13" name="Line 13"/>
            <p:cNvSpPr/>
            <p:nvPr/>
          </p:nvSpPr>
          <p:spPr>
            <a:xfrm>
              <a:off x="8153400" y="41719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46542" y="4369118"/>
              <a:ext cx="294551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新加坡在运 1.46GW 仍居东南亚首位，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但在建仅 </a:t>
              </a: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20MW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，增量近乎停滞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16" name="Line 16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5666" y="6630352"/>
              <a:ext cx="3085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数据出处：07-31 / 08-07 / 07-30 / 07-28 日报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6522" y="556260"/>
            <a:ext cx="9904110" cy="931735"/>
            <a:chOff x="366522" y="556260"/>
            <a:chExt cx="9904110" cy="931735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规则时代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6522" y="930592"/>
              <a:ext cx="990411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亚太从"抢投资"转向"定规则"，抓手清一色是</a:t>
              </a:r>
              <a:r>
                <a:rPr lang="zh-CN" sz="28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电与水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1000" y="1428750"/>
            <a:ext cx="5600700" cy="2143125"/>
            <a:chOff x="381000" y="1428750"/>
            <a:chExt cx="5600700" cy="2143125"/>
          </a:xfrm>
        </p:grpSpPr>
        <p:sp>
          <p:nvSpPr>
            <p:cNvPr id="6" name="Rectangle 6"/>
            <p:cNvSpPr/>
            <p:nvPr/>
          </p:nvSpPr>
          <p:spPr>
            <a:xfrm>
              <a:off x="381000" y="1428750"/>
              <a:ext cx="5600700" cy="21431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21030" y="1647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泰国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1792" y="2006918"/>
              <a:ext cx="35112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四项质量门槛 + 每兆瓦 450 万泰铢电力保函，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牌照升为 Type 3；清洁电力被定义为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"决定泰国 AI 未来"的要素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428750"/>
            <a:ext cx="5600700" cy="2143125"/>
            <a:chOff x="6210300" y="1428750"/>
            <a:chExt cx="5600700" cy="2143125"/>
          </a:xfrm>
        </p:grpSpPr>
        <p:sp>
          <p:nvSpPr>
            <p:cNvPr id="10" name="Rectangle 10"/>
            <p:cNvSpPr/>
            <p:nvPr/>
          </p:nvSpPr>
          <p:spPr>
            <a:xfrm>
              <a:off x="6210300" y="1428750"/>
              <a:ext cx="5600700" cy="21431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50330" y="1647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马来西亚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51092" y="2006918"/>
              <a:ext cx="32884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外资数据中心改用"经济价值计分卡"评估；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Nation 2030 把重心从供地供电转向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算力服务、本地模型与行业应用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1000" y="3762375"/>
            <a:ext cx="5600700" cy="2143125"/>
            <a:chOff x="381000" y="3762375"/>
            <a:chExt cx="5600700" cy="2143125"/>
          </a:xfrm>
        </p:grpSpPr>
        <p:sp>
          <p:nvSpPr>
            <p:cNvPr id="14" name="Rectangle 14"/>
            <p:cNvSpPr/>
            <p:nvPr/>
          </p:nvSpPr>
          <p:spPr>
            <a:xfrm>
              <a:off x="381000" y="3762375"/>
              <a:ext cx="5600700" cy="21431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1030" y="3981450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印度 / 澳大利亚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1792" y="4340542"/>
              <a:ext cx="26026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印度电信数据出境"零例外"禁令；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澳洲要求数据中心自筹电力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并承担全额并网成本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10300" y="3762375"/>
            <a:ext cx="5600700" cy="2143125"/>
            <a:chOff x="6210300" y="3762375"/>
            <a:chExt cx="5600700" cy="2143125"/>
          </a:xfrm>
        </p:grpSpPr>
        <p:sp>
          <p:nvSpPr>
            <p:cNvPr id="18" name="Rectangle 18"/>
            <p:cNvSpPr/>
            <p:nvPr/>
          </p:nvSpPr>
          <p:spPr>
            <a:xfrm>
              <a:off x="6210300" y="3762375"/>
              <a:ext cx="5600700" cy="21431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50330" y="3981450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新加坡 / 欧盟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51092" y="4340542"/>
              <a:ext cx="33484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新加坡《董事会 AI 指南》把 AI 责任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压到董事会层级；欧盟 AI 法案执法权生效，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可按全球营收计罚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73380" y="6143625"/>
            <a:ext cx="7504176" cy="293370"/>
            <a:chOff x="373380" y="6143625"/>
            <a:chExt cx="7504176" cy="293370"/>
          </a:xfrm>
        </p:grpSpPr>
        <p:sp>
          <p:nvSpPr>
            <p:cNvPr id="22" name="TextBox 22"/>
            <p:cNvSpPr txBox="1"/>
            <p:nvPr/>
          </p:nvSpPr>
          <p:spPr>
            <a:xfrm>
              <a:off x="373380" y="6143625"/>
              <a:ext cx="7504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准入逻辑变成：</a:t>
              </a:r>
              <a:r>
                <a:rPr lang="zh-CN" sz="15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"电从哪来、水怎么省、本地得到什么。"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本地价值成为硬通货。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24" name="Line 24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5666" y="6630352"/>
              <a:ext cx="198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数据出处：07-27 / 08-02 日报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5760" y="556260"/>
            <a:ext cx="7647432" cy="944880"/>
            <a:chOff x="365760" y="556260"/>
            <a:chExt cx="7647432" cy="944880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回报检验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914400"/>
              <a:ext cx="764743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泡沫争论的答案，藏在</a:t>
              </a:r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两本账</a:t>
              </a:r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的差值里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33600" y="1381125"/>
            <a:ext cx="7915275" cy="4552950"/>
            <a:chOff x="2133600" y="1381125"/>
            <a:chExt cx="7915275" cy="4552950"/>
          </a:xfrm>
        </p:grpSpPr>
        <p:sp>
          <p:nvSpPr>
            <p:cNvPr id="6" name="Rectangle 6"/>
            <p:cNvSpPr/>
            <p:nvPr/>
          </p:nvSpPr>
          <p:spPr>
            <a:xfrm>
              <a:off x="2133600" y="1381125"/>
              <a:ext cx="7915275" cy="4552950"/>
            </a:xfrm>
            <a:prstGeom prst="rect">
              <a:avLst/>
            </a:pr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600" y="1381125"/>
              <a:ext cx="7915275" cy="455295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917192" y="6181725"/>
            <a:ext cx="8357616" cy="293370"/>
            <a:chOff x="1917192" y="6181725"/>
            <a:chExt cx="8357616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1917192" y="6181725"/>
              <a:ext cx="83576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客户的预算审批正在变严——方案叙事要从能力清单，切换到</a:t>
              </a:r>
              <a:r>
                <a:rPr lang="zh-CN" sz="15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单位任务成本与可核算回报</a:t>
              </a:r>
              <a:r>
                <a:rPr lang="zh-C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11" name="Line 11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5666" y="6630352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数据出处：07-30 / 08-06 / 08-07 日报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81050" y="1143000"/>
            <a:ext cx="2171700" cy="2876550"/>
            <a:chOff x="781050" y="1143000"/>
            <a:chExt cx="2171700" cy="2876550"/>
          </a:xfrm>
        </p:grpSpPr>
        <p:sp>
          <p:nvSpPr>
            <p:cNvPr id="2" name="TextBox 2"/>
            <p:cNvSpPr txBox="1"/>
            <p:nvPr/>
          </p:nvSpPr>
          <p:spPr>
            <a:xfrm>
              <a:off x="781050" y="1143000"/>
              <a:ext cx="2171700" cy="287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0" dirty="0">
                  <a:ln w="19050">
                    <a:solidFill>
                      <a:schemeClr val="accent1">
                        <a:alphaMod val="55000"/>
                      </a:schemeClr>
                    </a:solidFill>
                  </a:ln>
                  <a:noFill/>
                  <a:latin typeface="+mj-lt"/>
                  <a:ea typeface="+mj-ea"/>
                  <a:cs typeface="+mj-cs"/>
                </a:rPr>
                <a:t>叁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1050" y="3753802"/>
            <a:ext cx="4877105" cy="790575"/>
            <a:chOff x="781050" y="3753802"/>
            <a:chExt cx="4877105" cy="790575"/>
          </a:xfrm>
        </p:grpSpPr>
        <p:sp>
          <p:nvSpPr>
            <p:cNvPr id="4" name="TextBox 4"/>
            <p:cNvSpPr txBox="1"/>
            <p:nvPr/>
          </p:nvSpPr>
          <p:spPr>
            <a:xfrm>
              <a:off x="781050" y="3753802"/>
              <a:ext cx="487710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十句</a:t>
              </a:r>
              <a:r>
                <a:rPr lang="zh-CN" sz="4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可以开口的话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10768" y="4851082"/>
            <a:ext cx="6928828" cy="322707"/>
            <a:chOff x="810768" y="4851082"/>
            <a:chExt cx="6928828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810768" y="4851082"/>
              <a:ext cx="6928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高层交流 · 发布会开场 · 每句话背后都有一个当天可查证的数字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8" name="Line 8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5666" y="6630352"/>
              <a:ext cx="313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谈资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56260"/>
            <a:ext cx="2007184" cy="234696"/>
            <a:chOff x="381000" y="556260"/>
            <a:chExt cx="2007184" cy="234696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1575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谈资 · 上 · 01–05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72618" y="1250632"/>
            <a:ext cx="11438382" cy="740093"/>
            <a:chOff x="372618" y="1250632"/>
            <a:chExt cx="11438382" cy="740093"/>
          </a:xfrm>
        </p:grpSpPr>
        <p:sp>
          <p:nvSpPr>
            <p:cNvPr id="5" name="TextBox 5"/>
            <p:cNvSpPr txBox="1"/>
            <p:nvPr/>
          </p:nvSpPr>
          <p:spPr>
            <a:xfrm>
              <a:off x="372618" y="12506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4118" y="1250632"/>
              <a:ext cx="83884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中国模型占全球 AI 调用量 63.5%，前五名被小米、DeepSeek、混元、智谱包揽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5642" y="1587818"/>
              <a:ext cx="8189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"现在全球每三次 AI 调用，大约有两次跑在中国的开源模型上——这在一年前不可想象。"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81000" y="1981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72618" y="2241232"/>
            <a:ext cx="11438382" cy="740093"/>
            <a:chOff x="372618" y="2241232"/>
            <a:chExt cx="11438382" cy="740093"/>
          </a:xfrm>
        </p:grpSpPr>
        <p:sp>
          <p:nvSpPr>
            <p:cNvPr id="10" name="TextBox 10"/>
            <p:cNvSpPr txBox="1"/>
            <p:nvPr/>
          </p:nvSpPr>
          <p:spPr>
            <a:xfrm>
              <a:off x="372618" y="22412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241232"/>
              <a:ext cx="79271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韩国把"运营商即 AI 算力运营方"写进国家资本结构，SKT 建 2GW AI 工厂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578418"/>
              <a:ext cx="8064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"韩国给运营商的定位变了：不是用 AI 的电信公司，而是卖 AI 产能的基础设施企业。"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81000" y="2971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72618" y="3231832"/>
            <a:ext cx="11438382" cy="740093"/>
            <a:chOff x="372618" y="3231832"/>
            <a:chExt cx="11438382" cy="740093"/>
          </a:xfrm>
        </p:grpSpPr>
        <p:sp>
          <p:nvSpPr>
            <p:cNvPr id="15" name="TextBox 15"/>
            <p:cNvSpPr txBox="1"/>
            <p:nvPr/>
          </p:nvSpPr>
          <p:spPr>
            <a:xfrm>
              <a:off x="372618" y="32318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118" y="3231832"/>
              <a:ext cx="73973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全球 AI 数据中心排队电力超过 800GW，德州排队半年翻倍到 474GW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642" y="3569018"/>
              <a:ext cx="67686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"AI 现在缺的不是 GPU，是变电站——800GW 相当于 40 个三峡在排队。"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81000" y="39624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72618" y="4222432"/>
            <a:ext cx="11438382" cy="740093"/>
            <a:chOff x="372618" y="4222432"/>
            <a:chExt cx="11438382" cy="740093"/>
          </a:xfrm>
        </p:grpSpPr>
        <p:sp>
          <p:nvSpPr>
            <p:cNvPr id="20" name="TextBox 20"/>
            <p:cNvSpPr txBox="1"/>
            <p:nvPr/>
          </p:nvSpPr>
          <p:spPr>
            <a:xfrm>
              <a:off x="372618" y="42224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118" y="4222432"/>
              <a:ext cx="82882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CoreWeave 进亚太第一站选了印尼不是新加坡；柔佛 8542MW 居亚太储备第一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4559618"/>
              <a:ext cx="8084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"算力正在越过传统枢纽向外扩散——新加坡在建只剩 20MW，增量都去了印尼和柔佛。"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81000" y="49530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372618" y="5213032"/>
            <a:ext cx="11438382" cy="740093"/>
            <a:chOff x="372618" y="5213032"/>
            <a:chExt cx="11438382" cy="740093"/>
          </a:xfrm>
        </p:grpSpPr>
        <p:sp>
          <p:nvSpPr>
            <p:cNvPr id="25" name="TextBox 25"/>
            <p:cNvSpPr txBox="1"/>
            <p:nvPr/>
          </p:nvSpPr>
          <p:spPr>
            <a:xfrm>
              <a:off x="372618" y="52130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118" y="5213032"/>
              <a:ext cx="9331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南亚科营收同比 +719.6%，三星判断存储短缺持续到 2028，长鑫 3.31 万亿登顶 A 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5550218"/>
              <a:ext cx="4966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"这一轮最先赚到钱的不是做模型的，是做内存的。"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81000" y="59436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30" name="Line 30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5666" y="66303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每句话背后都有一个当天可查证的数字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56260"/>
            <a:ext cx="2007184" cy="234696"/>
            <a:chOff x="381000" y="556260"/>
            <a:chExt cx="2007184" cy="234696"/>
          </a:xfrm>
        </p:grpSpPr>
        <p:sp>
          <p:nvSpPr>
            <p:cNvPr id="2" name="Line 2"/>
            <p:cNvSpPr/>
            <p:nvPr/>
          </p:nvSpPr>
          <p:spPr>
            <a:xfrm>
              <a:off x="381000" y="6286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13054" y="556260"/>
              <a:ext cx="1575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谈资 · 下 · 06–10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72618" y="1250632"/>
            <a:ext cx="11438382" cy="740093"/>
            <a:chOff x="372618" y="1250632"/>
            <a:chExt cx="11438382" cy="740093"/>
          </a:xfrm>
        </p:grpSpPr>
        <p:sp>
          <p:nvSpPr>
            <p:cNvPr id="5" name="TextBox 5"/>
            <p:cNvSpPr txBox="1"/>
            <p:nvPr/>
          </p:nvSpPr>
          <p:spPr>
            <a:xfrm>
              <a:off x="372618" y="12506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4118" y="1250632"/>
              <a:ext cx="8400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九大云商年资本开支 8867 亿美元；CoreWeave 信用违约互换一度突破 855 基点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5642" y="1587818"/>
              <a:ext cx="6979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"AI 基建第一次被债券市场定价——这轮竞争拼的是谁的融资结构更健康。"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81000" y="1981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72618" y="2241232"/>
            <a:ext cx="11438382" cy="740093"/>
            <a:chOff x="372618" y="2241232"/>
            <a:chExt cx="11438382" cy="740093"/>
          </a:xfrm>
        </p:grpSpPr>
        <p:sp>
          <p:nvSpPr>
            <p:cNvPr id="10" name="TextBox 10"/>
            <p:cNvSpPr txBox="1"/>
            <p:nvPr/>
          </p:nvSpPr>
          <p:spPr>
            <a:xfrm>
              <a:off x="372618" y="22412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241232"/>
              <a:ext cx="63139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泰国设电力保函、马来西亚改计分卡、印度数据零例外禁出境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578418"/>
              <a:ext cx="7510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"亚太的数据中心审批换了考卷：不再问投多少钱，改问电从哪来、本地得到什么。"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81000" y="29718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72618" y="3231832"/>
            <a:ext cx="11438382" cy="740093"/>
            <a:chOff x="372618" y="3231832"/>
            <a:chExt cx="11438382" cy="740093"/>
          </a:xfrm>
        </p:grpSpPr>
        <p:sp>
          <p:nvSpPr>
            <p:cNvPr id="15" name="TextBox 15"/>
            <p:cNvSpPr txBox="1"/>
            <p:nvPr/>
          </p:nvSpPr>
          <p:spPr>
            <a:xfrm>
              <a:off x="372618" y="32318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118" y="3231832"/>
              <a:ext cx="7609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Airtel 给 3 万名现场工程师部署端侧小模型，每年数亿卢比云端开销归零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642" y="3569018"/>
              <a:ext cx="6461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"推理正在从云端搬进口袋——运营商第一次把 AI 账单做成了负数。"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81000" y="39624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72618" y="4222432"/>
            <a:ext cx="11438382" cy="740093"/>
            <a:chOff x="372618" y="4222432"/>
            <a:chExt cx="11438382" cy="740093"/>
          </a:xfrm>
        </p:grpSpPr>
        <p:sp>
          <p:nvSpPr>
            <p:cNvPr id="20" name="TextBox 20"/>
            <p:cNvSpPr txBox="1"/>
            <p:nvPr/>
          </p:nvSpPr>
          <p:spPr>
            <a:xfrm>
              <a:off x="372618" y="42224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118" y="4222432"/>
              <a:ext cx="73983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Opus 5 定价腰斩、GPT-5.6 降 80%、MiniMax 把视频生成压到分钱级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4559618"/>
              <a:ext cx="6801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"前沿竞争的记分牌从跑分变成了单位任务成本——降价就是新的军备竞赛。"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81000" y="49530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372618" y="5213032"/>
            <a:ext cx="11438382" cy="740093"/>
            <a:chOff x="372618" y="5213032"/>
            <a:chExt cx="11438382" cy="740093"/>
          </a:xfrm>
        </p:grpSpPr>
        <p:sp>
          <p:nvSpPr>
            <p:cNvPr id="25" name="TextBox 25"/>
            <p:cNvSpPr txBox="1"/>
            <p:nvPr/>
          </p:nvSpPr>
          <p:spPr>
            <a:xfrm>
              <a:off x="372618" y="521303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118" y="5213032"/>
              <a:ext cx="80996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华为开源 5050 亿参数盘古（昇腾原生），周内落地泰国 AIS 智能制造合作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5550218"/>
              <a:ext cx="72103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开场白 ·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"开放权重加自主算力，正好是亚太各国主权 AI 诉求咬合最紧的一对组合。"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81000" y="59436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30" name="Line 30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5666" y="66303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每句话背后都有一个当天可查证的数字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650180" y="6630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800100" y="1524000"/>
            <a:ext cx="5334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81050" y="2238375"/>
            <a:ext cx="4928711" cy="1676400"/>
            <a:chOff x="781050" y="2238375"/>
            <a:chExt cx="4928711" cy="1676400"/>
          </a:xfrm>
        </p:grpSpPr>
        <p:sp>
          <p:nvSpPr>
            <p:cNvPr id="3" name="TextBox 3"/>
            <p:cNvSpPr txBox="1"/>
            <p:nvPr/>
          </p:nvSpPr>
          <p:spPr>
            <a:xfrm>
              <a:off x="781050" y="2238375"/>
              <a:ext cx="4928711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zh-CN" sz="4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谁解决</a:t>
              </a:r>
              <a:r>
                <a:rPr lang="zh-CN" sz="4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电与内存</a:t>
              </a:r>
              <a:r>
                <a:rPr lang="zh-CN" sz="4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，</a:t>
              </a:r>
              <a:br/>
              <a:r>
                <a:rPr lang="zh-CN" sz="4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谁定义下一轮 AI。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2480" y="4442460"/>
            <a:ext cx="4920615" cy="946785"/>
            <a:chOff x="792480" y="4442460"/>
            <a:chExt cx="4920615" cy="946785"/>
          </a:xfrm>
        </p:grpSpPr>
        <p:sp>
          <p:nvSpPr>
            <p:cNvPr id="5" name="TextBox 5"/>
            <p:cNvSpPr txBox="1"/>
            <p:nvPr/>
          </p:nvSpPr>
          <p:spPr>
            <a:xfrm>
              <a:off x="794004" y="444246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下期追踪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2480" y="4772025"/>
              <a:ext cx="492061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中国开源份额是否破 70% ｜ 韩国模式会不会被东南亚复制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存储长约如何推高亚太造价 ｜ 印尼 1.36GW 的开工进度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5666" y="6553200"/>
            <a:ext cx="11440668" cy="282511"/>
            <a:chOff x="375666" y="6553200"/>
            <a:chExt cx="11440668" cy="282511"/>
          </a:xfrm>
        </p:grpSpPr>
        <p:sp>
          <p:nvSpPr>
            <p:cNvPr id="8" name="Line 8"/>
            <p:cNvSpPr/>
            <p:nvPr/>
          </p:nvSpPr>
          <p:spPr>
            <a:xfrm>
              <a:off x="381000" y="65532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5666" y="6630352"/>
              <a:ext cx="3357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亚太ICT MSSD · AI 洞察知识库 · 每日更新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74858" y="66303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2026.08 · 第一期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ac-ai-briefing-202608">
  <a:themeElements>
    <a:clrScheme name="apac-ai-briefing-202608">
      <a:dk1>
        <a:srgbClr val="F2EFE6"/>
      </a:dk1>
      <a:lt1>
        <a:srgbClr val="0A0D12"/>
      </a:lt1>
      <a:dk2>
        <a:srgbClr val="1F497D"/>
      </a:dk2>
      <a:lt2>
        <a:srgbClr val="141A24"/>
      </a:lt2>
      <a:accent1>
        <a:srgbClr val="C9A96A"/>
      </a:accent1>
      <a:accent2>
        <a:srgbClr val="E3C88F"/>
      </a:accent2>
      <a:accent3>
        <a:srgbClr val="E5504D"/>
      </a:accent3>
      <a:accent4>
        <a:srgbClr val="C9A96A"/>
      </a:accent4>
      <a:accent5>
        <a:srgbClr val="8B93A1"/>
      </a:accent5>
      <a:accent6>
        <a:srgbClr val="3A4250"/>
      </a:accent6>
      <a:hlink>
        <a:srgbClr val="E3C88F"/>
      </a:hlink>
      <a:folHlink>
        <a:srgbClr val="E5504D"/>
      </a:folHlink>
    </a:clrScheme>
    <a:fontScheme name="apac-ai-briefing-202608">
      <a:majorFont>
        <a:latin typeface="Noto Serif CJK SC"/>
        <a:ea typeface="SimSun"/>
        <a:cs typeface="Noto Serif CJK SC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ac-ai-briefing-20260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pac-ai-briefing-202608">
  <a:themeElements>
    <a:clrScheme name="apac-ai-briefing-202608">
      <a:dk1>
        <a:srgbClr val="F2EFE6"/>
      </a:dk1>
      <a:lt1>
        <a:srgbClr val="0A0D12"/>
      </a:lt1>
      <a:dk2>
        <a:srgbClr val="1F497D"/>
      </a:dk2>
      <a:lt2>
        <a:srgbClr val="141A24"/>
      </a:lt2>
      <a:accent1>
        <a:srgbClr val="C9A96A"/>
      </a:accent1>
      <a:accent2>
        <a:srgbClr val="E3C88F"/>
      </a:accent2>
      <a:accent3>
        <a:srgbClr val="E5504D"/>
      </a:accent3>
      <a:accent4>
        <a:srgbClr val="C9A96A"/>
      </a:accent4>
      <a:accent5>
        <a:srgbClr val="8B93A1"/>
      </a:accent5>
      <a:accent6>
        <a:srgbClr val="3A4250"/>
      </a:accent6>
      <a:hlink>
        <a:srgbClr val="E3C88F"/>
      </a:hlink>
      <a:folHlink>
        <a:srgbClr val="E5504D"/>
      </a:folHlink>
    </a:clrScheme>
    <a:fontScheme name="apac-ai-briefing-202608">
      <a:majorFont>
        <a:latin typeface="Noto Serif CJK SC"/>
        <a:ea typeface="SimSun"/>
        <a:cs typeface="Noto Serif CJK SC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ac-ai-briefing-20260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2026-08-08T01:31:33Z</dcterms:created>
  <dcterms:modified xsi:type="dcterms:W3CDTF">2026-08-08T01:31:33Z</dcterms:modified>
  <cp:category/>
  <cp:contentStatus/>
</cp:coreProperties>
</file>