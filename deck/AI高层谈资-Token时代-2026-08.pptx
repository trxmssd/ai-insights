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finance.sina.com.cn/tech/digi/2026-08-02/doc-inikxfmh9699461.shtml" TargetMode="External"/><Relationship Id="rId2" Type="http://schemas.openxmlformats.org/officeDocument/2006/relationships/hyperlink" Target="https://www.ithome.com/0/990/187.htm" TargetMode="External"/><Relationship Id="rId3" Type="http://schemas.openxmlformats.org/officeDocument/2006/relationships/hyperlink" Target="https://qwen.ai" TargetMode="External"/><Relationship Id="rId4" Type="http://schemas.openxmlformats.org/officeDocument/2006/relationships/hyperlink" Target="https://m.cls.cn/detail/2447135" TargetMode="External"/><Relationship Id="rId5" Type="http://schemas.openxmlformats.org/officeDocument/2006/relationships/hyperlink" Target="https://finance.sina.com.cn/tech/roll/2026-08-13/doc-inineuqe4615505.shtml" TargetMode="External"/><Relationship Id="rId6" Type="http://schemas.openxmlformats.org/officeDocument/2006/relationships/hyperlink" Target="http://www.news.cn/info/20260813/993eb99361654294bf65af9585ba9492/c.html" TargetMode="External"/><Relationship Id="rId7" Type="http://schemas.openxmlformats.org/officeDocument/2006/relationships/hyperlink" Target="https://www.cls.cn/detail/2454822" TargetMode="External"/><Relationship Id="rId8" Type="http://schemas.openxmlformats.org/officeDocument/2006/relationships/hyperlink" Target="https://www.axios.com/2026/07/24/stripe-openrouter-merger-ai-currency" TargetMode="External"/><Relationship Id="rId9" Type="http://schemas.openxmlformats.org/officeDocument/2006/relationships/hyperlink" Target="https://techcrunch.com/2026/08/07/after-rippling-blew-millions-on-ai-in-months-it-built-an-employee-roi-tool/" TargetMode="External"/><Relationship Id="rId10" Type="http://schemas.openxmlformats.org/officeDocument/2006/relationships/hyperlink" Target="https://www.softbank.jp/business/news/2026/0807-01" TargetMode="External"/><Relationship Id="rId11" Type="http://schemas.openxmlformats.org/officeDocument/2006/relationships/hyperlink" Target="https://www.forbes.com/sites/jonmarkman/2026/08/06/anthropic-enters-the-ai-chip-race-with-in-house-chip-team/" TargetMode="External"/><Relationship Id="rId12" Type="http://schemas.openxmlformats.org/officeDocument/2006/relationships/hyperlink" Target="https://www.taipeitimes.com/News/biz/archives/2026/08/12/2003862320" TargetMode="External"/><Relationship Id="rId13" Type="http://schemas.openxmlformats.org/officeDocument/2006/relationships/hyperlink" Target="https://news.skhynix.com/en/fab-facility-investment-2026/" TargetMode="External"/><Relationship Id="rId14" Type="http://schemas.openxmlformats.org/officeDocument/2006/relationships/hyperlink" Target="https://www.koreaherald.com/article/10839027" TargetMode="External"/><Relationship Id="rId15" Type="http://schemas.openxmlformats.org/officeDocument/2006/relationships/hyperlink" Target="https://www.kedglobal.com/korean-chipmakers/newsView/ked202608140013" TargetMode="External"/><Relationship Id="rId16" Type="http://schemas.openxmlformats.org/officeDocument/2006/relationships/hyperlink" Target="https://www.koreatimes.co.kr/economy/20260814/koreas-ict-exports-up-140-in-july-on-sustained-ai-chip-demand" TargetMode="External"/><Relationship Id="rId17" Type="http://schemas.openxmlformats.org/officeDocument/2006/relationships/hyperlink" Target="https://technews.tw/2026/08/04/nanya-technology-july-revenue/" TargetMode="External"/><Relationship Id="rId18" Type="http://schemas.openxmlformats.org/officeDocument/2006/relationships/hyperlink" Target="https://www.aljazeera.com/economy/2026/8/12/taiwans-foxconn-reports-35-percent-rise-in-profit-on-ai-demand" TargetMode="External"/><Relationship Id="rId19" Type="http://schemas.openxmlformats.org/officeDocument/2006/relationships/hyperlink" Target="https://www.cnbc.com/2026/08/10/tsmc-revenue-surge-ai-chip-big-tech.html" TargetMode="External"/><Relationship Id="rId20" Type="http://schemas.openxmlformats.org/officeDocument/2006/relationships/hyperlink" Target="https://www.bloomberg.com/news/articles/2026-08-04/ai-power-demands-spur-builders-to-seek-billions-in-bank-pledges" TargetMode="External"/><Relationship Id="rId21" Type="http://schemas.openxmlformats.org/officeDocument/2006/relationships/hyperlink" Target="https://techcrunch.com/2026/08/04/texas-halts-new-data-centers-as-governor-calls-for-audits/" TargetMode="External"/><Relationship Id="rId22" Type="http://schemas.openxmlformats.org/officeDocument/2006/relationships/hyperlink" Target="https://finance.sina.com.cn/jjxw/2026-08-14/doc-ininicvf2707528.shtml" TargetMode="External"/><Relationship Id="rId23" Type="http://schemas.openxmlformats.org/officeDocument/2006/relationships/hyperlink" Target="https://www.u.com.my/en/about-us/newsroom/press-releases/u-mobile-sets-a-new-industry-standard-collaborating-with-openai" TargetMode="External"/><Relationship Id="rId24" Type="http://schemas.openxmlformats.org/officeDocument/2006/relationships/hyperlink" Target="https://www.business-standard.com/companies/news/l-and-t-to-set-up-nvidia-b300-ai-factory-for-together-ai-126081301000_1.html" TargetMode="External"/><Relationship Id="rId25" Type="http://schemas.openxmlformats.org/officeDocument/2006/relationships/hyperlink" Target="https://www.sttelemediagdc.com/my-en/newsroom/stt-gdc-deepens-malaysia-commitment-up-to-usd-1.37-billion-green-financing-stt-johor" TargetMode="External"/><Relationship Id="rId26" Type="http://schemas.openxmlformats.org/officeDocument/2006/relationships/hyperlink" Target="https://firmus.co/newsroom/firmus-announces-fully-subscribed-usdusd2-billion-strategic-equity-investment-to-accelerate-nvidia-ai-factories" TargetMode="External"/><Relationship Id="rId27" Type="http://schemas.openxmlformats.org/officeDocument/2006/relationships/hyperlink" Target="https://technode.global/2026/08/06/southeast-asias-ai-startups-raise-9-3b-with-singapore-emerges-as-the-largest-hub-tracxn/" TargetMode="External"/><Relationship Id="rId28" Type="http://schemas.openxmlformats.org/officeDocument/2006/relationships/hyperlink" Target="https://www.globenewswire.com/news-release/2026/07/25/3333161/0/en/SK-Group-and-NVIDIA-Expand-Strategic-Partnership" TargetMode="External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亚太ICT MSSD · AI 高层交流材料 · 2026.08 第二期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的账单，</a:t>
            </a:r>
            <a:pPr indent="0" marL="0">
              <a:buNone/>
            </a:pPr>
            <a:r>
              <a:rPr lang="en-US" sz="6000" b="1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换了单位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85800" y="35204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从“买算力”到“按 Token 计价、按长约锁产能”——过去三周，AI 产业的商业底层被重写。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4069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本材料的每一个数字，都可回溯到当日情报原文与原始出处（见末页）。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5257800"/>
            <a:ext cx="6949440" cy="777240"/>
          </a:xfrm>
          <a:prstGeom prst="roundRect">
            <a:avLst>
              <a:gd name="adj" fmla="val 9412"/>
            </a:avLst>
          </a:prstGeom>
          <a:solidFill>
            <a:srgbClr val="111A24"/>
          </a:solidFill>
          <a:ln w="9525">
            <a:solidFill>
              <a:srgbClr val="1C2A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2578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数据窗口  </a:t>
            </a:r>
            <a:pPr indent="0" marL="0">
              <a:buNone/>
            </a:pPr>
            <a:r>
              <a:rPr lang="en-US" sz="1300" b="1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2026.07.25 – 08.17</a:t>
            </a:r>
            <a:pPr indent="0" marL="0">
              <a:buNone/>
            </a:pPr>
            <a:r>
              <a:rPr lang="en-US" sz="13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｜   19 期日报 · 550+ 条情报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亚太ICT MSSD · AI 洞察知识库 · 每日更新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全部数字出自每日 AI 洞察日报归档，原始出处见末页“数据来源”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三周 · 六个数字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先看数字，再谈判断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611880" cy="2084832"/>
          </a:xfrm>
          <a:prstGeom prst="roundRect">
            <a:avLst>
              <a:gd name="adj" fmla="val 3070"/>
            </a:avLst>
          </a:prstGeom>
          <a:solidFill>
            <a:srgbClr val="111A24"/>
          </a:solidFill>
          <a:ln w="9525">
            <a:solidFill>
              <a:srgbClr val="1C2A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80136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63.5%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58952" y="2624328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中国模型在 OpenRouter 全球 AI 调用量份额，周词元调用量连续 13 周全球第一（08-03）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611880" cy="2084832"/>
          </a:xfrm>
          <a:prstGeom prst="roundRect">
            <a:avLst>
              <a:gd name="adj" fmla="val 3070"/>
            </a:avLst>
          </a:prstGeom>
          <a:solidFill>
            <a:srgbClr val="111A24"/>
          </a:solidFill>
          <a:ln w="9525">
            <a:solidFill>
              <a:srgbClr val="1C2A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80136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+486.1%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81144" y="2624328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中国移动上半年 AIDC 收入同比；智算服务 +130.1%，AIDC 累计签约 7GW（08-13）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47304" y="1600200"/>
            <a:ext cx="3611880" cy="2084832"/>
          </a:xfrm>
          <a:prstGeom prst="roundRect">
            <a:avLst>
              <a:gd name="adj" fmla="val 3070"/>
            </a:avLst>
          </a:prstGeom>
          <a:solidFill>
            <a:srgbClr val="111A24"/>
          </a:solidFill>
          <a:ln w="9525">
            <a:solidFill>
              <a:srgbClr val="1C2A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80136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GW+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403336" y="2624328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 AI 数据中心排队等待接入的电力；德州 ERCOT 半年从 233GW 涨到 474GW（08-04）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3611880" cy="2084832"/>
          </a:xfrm>
          <a:prstGeom prst="roundRect">
            <a:avLst>
              <a:gd name="adj" fmla="val 3070"/>
            </a:avLst>
          </a:prstGeom>
          <a:solidFill>
            <a:srgbClr val="111A24"/>
          </a:solidFill>
          <a:ln w="9525">
            <a:solidFill>
              <a:srgbClr val="1C2A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408736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+500.2%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58952" y="4910328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韩国 7 月 AI 服务器用 SSD 出口同比；ICT 出口 533.6 亿美元创同期新高（08-14）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25112" y="3886200"/>
            <a:ext cx="3611880" cy="2084832"/>
          </a:xfrm>
          <a:prstGeom prst="roundRect">
            <a:avLst>
              <a:gd name="adj" fmla="val 3070"/>
            </a:avLst>
          </a:prstGeom>
          <a:solidFill>
            <a:srgbClr val="111A24"/>
          </a:solidFill>
          <a:ln w="9525">
            <a:solidFill>
              <a:srgbClr val="1C2A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408736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亿美元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581144" y="4910328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Stripe 收购模型网关 OpenRouter 的对价——3 个月前它的估值还是 13 亿（08-16）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47304" y="3886200"/>
            <a:ext cx="3611880" cy="2084832"/>
          </a:xfrm>
          <a:prstGeom prst="roundRect">
            <a:avLst>
              <a:gd name="adj" fmla="val 3070"/>
            </a:avLst>
          </a:prstGeom>
          <a:solidFill>
            <a:srgbClr val="111A24"/>
          </a:solidFill>
          <a:ln w="9525">
            <a:solidFill>
              <a:srgbClr val="1C2A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3336" y="408736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1130 亿元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8403336" y="4910328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中国前 7 个月亿元级智算中心招标总额；智能算力规模同比 +177%（08-14）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11887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0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壹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 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3774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正在变成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2918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新的资费单位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全局调价 · 中移动 Token 套餐 · 银行 Token 贷 · 网关估值 3 个月涨 5 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来源：08-08 / 08-14 / 08-16 日报 ｜ DeepSeek 官方文档 · 新浪科技 · 财联社 · 新华网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判断壹 · 上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推理调用第一次被当成“流量”来定价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元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246120" y="1627632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V4-Pro 高峰时段每百万 token 输出价翻倍（6→12 元），国产模型首次全局调价，并划出每日两个高峰时段——峰值算力的紧张被直接传导给调用方（08-06 公告）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96896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96896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全国套餐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46120" y="2596896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中国移动宣布推出全国统一 Token 套餐资费，设 Token 办公室、多省试点——网络服务商首次把大模型调用量做成标准化电信资费产品（08-13）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66160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万元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46120" y="3566160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中国银行落地全国首个“Token 贷”：凭 Token 消耗流水授信，最长三年；广州海珠“词元八条”对词元生产端最高 50% 扶持（08-14）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535424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35424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万亿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46120" y="4535424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中国日均 Token 调用量（截至 2026 年 3 月）——计费的分母已经大到必须资费化管理（08-14）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5778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0E2226"/>
          </a:solidFill>
          <a:ln w="12700">
            <a:solidFill>
              <a:srgbClr val="155E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57784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电信业最熟悉的“计量—套餐—结算”能力，正是 AI 商业化缺的那一层。Token 资费的打法在东南亚可直接移植，配套是计量、结算与 SLA 体系。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来源：08-08 / 08-09 / 08-17 日报 ｜ TechCrunch · SoftBank 官网 · Forbes · 彭博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判断壹 · 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账单失控，让“调用治理层”成了</a:t>
            </a:r>
            <a:pPr indent="0" marL="0">
              <a:buNone/>
            </a:pPr>
            <a:r>
              <a:rPr lang="en-US" sz="2500" b="1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价值截点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40%→15%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246120" y="1627632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Rippling 的 token 账单一度占研发人力预算四成、单个工程师月耗 5 万美元；自建 AI 网关 3 个月压回 15%，月耗仍维持 6000 亿 token（08-07）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96896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96896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加价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46120" y="2596896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软银把 LLM Gateway 设为 AGENTIC STAR 平台标配、不额外收费——模型路由、护栏、用量审计被定义为准入门槛而非增值项（08-07）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66160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亿美元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46120" y="3566160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Stripe 敲定收购模型网关 OpenRouter：聚合 400+ 模型、约 800 万用户；5 月 B 轮估值 13 亿，3 个月涨逾 5 倍（08-16）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535424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35424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GW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46120" y="4535424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组建自研芯片团队并锁定下一代 TPU 容量，把“每 token 成本”内化成芯片设计问题（08-06）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5778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0E2226"/>
          </a:solidFill>
          <a:ln w="12700">
            <a:solidFill>
              <a:srgbClr val="155E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57784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只做“转售模型接入”的服务商，价值会被网关层截走。模型路由、护栏、审计、按团队归集的账单，才是可独立定价、有粘性的交付件。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11887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0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贰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 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3774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供给侧在为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2918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 年备货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CoWoS 千亿动土 · 存储三到五年长约 · “内存即服务” · 通用产能外溢东南亚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来源：08-08 / 08-13 / 08-16 / 08-17 日报 ｜ SK hynix 官网 · Korea Herald · KED Global · ZDNet Korea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判断贰 · 上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封装与存储，把产能承诺写到了 2028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亿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246120" y="1627632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矽品云林斗六 CoWoS 新厂动土（新台币），首期 2028 年投产——AI 封装紧张被判断为跨年度而非短期错配，2027 年前供给曲线已被锁定（08-12）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96896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96896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万亿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46120" y="2596896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 海力士批准两座新厂（韩元）：龙仁 Y2 做 HBM 与下代 DRAM，清州 M17 专供 AI 推理级 NAND，2028-29 年开放洁净室（08-07）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66160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5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年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46120" y="3566160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三星与 SK 海力士把存储销售转向长期供货协议，预付款+照付不议；SK 会长称明年 AI 内存将严重短缺，研究“内存即服务”（08-13 / 08-14）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535424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35424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2nm 裸片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46120" y="4535424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三星拟把器兴 NRD-K2 研发线改产 HBM 基础裸片（2028 下半年投产），通用 DRAM/NAND 封测考虑移往越南——最好的产能优先给 AI 内存（08-14，未正式确认）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5778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0E2226"/>
          </a:solidFill>
          <a:ln w="12700">
            <a:solidFill>
              <a:srgbClr val="155E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57784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未签长约的中小算力买家将在产能分配上系统性落后。存储锁量谈判要提前到年度以上，亚太项目的 BOM 与交期按上行通道做预算。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来源：08-13 / 08-14 / 08-17 日报 ｜ Korea Times · CNBC · 路透 / Al Jazeera · TechNews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判断贰 · 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出口与财报里，产能就是收入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+140.6%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246120" y="1627632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韩国 7 月 ICT 出口 533.6 亿美元创同期新高，其中半导体 +178.8%、AI 服务器用 SSD +500.2%；ICT 连续三个月占总出口 54% 以上（08-14）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96896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96896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+719.6%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46120" y="2596896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南亚科 7 月营收同比；群联单季 EPS 118.57 元创历史新高——NAND 需求已由 AI 基础设施而非终端设备驱动（08-04 / 08-13）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66160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46120" y="3566160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鸿海云端网络事业群营收占比首度过半，超过含 iPhone 的消费电子（29%）；广达单季营收破兆、AI 服务器占服务器营收 75–80%（08-12 / 08-13）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535424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35424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+44.7%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46120" y="4535424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台积电 7 月营收 4675.8 亿新台币——全球 AI 算力投资强度的领先指标，公司已上调全年展望（08-10）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5778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0E2226"/>
          </a:solidFill>
          <a:ln w="12700">
            <a:solidFill>
              <a:srgbClr val="155E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57784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台韩的月度出口与代工财报，已是 AI 开工节奏的高频观测指标——向客户论证“需求是否真实”时，这是最硬的第三方数据。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11887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0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叁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 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3774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开源权重之后，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2918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开始进生产网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下载破 30 亿 · OpenAI 进马来西亚基站 · AI-RAN 进 3GPP · 运营商账本兑现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来源：08-03 / 08-13 / 08-16 / 08-17 日报 ｜ 新浪科技 · Qwen 官方仓库 · IT之家（引 Hugging Face）· 钛媒体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判断叁 · 上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开放权重的天平，继续向中国倾斜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63.5%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246120" y="1627632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中国模型在 OpenRouter 全球调用量份额，调用榜前五被小米、DeepSeek、混元、智谱包揽；周词元调用连续 13 周全球第一（08-03）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96896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96896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亿次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46120" y="2596896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全球下载量突破 30 亿、衍生模型超 15 万个；Hugging Face 报告：中国开源模型参数规模与衍生生态双双领先（08-14 / 08-16）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66160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46120" y="3566160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阿里首次开放 Qwen-Max 级权重（Qwen3.8-2.4T-A95B）——最高一档能力可下载部署；注意许可证为自定义条款，商用需逐条核对（08-12）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535424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35424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2.78 万亿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46120" y="4535424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年中国厂商月度最大开源模型参数上限（美国同期多数低于 1300 亿）；美国新增开源最多的两家已变为 AMD 与英伟达（08-16）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5778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0E2226"/>
          </a:solidFill>
          <a:ln w="12700">
            <a:solidFill>
              <a:srgbClr val="155E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57784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主权 AI 客户的“可私有化高能力底座”选项在快速变多。方案叙事应从模型能力对比，转向权重可控、许可合规与本地算力适配。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来源：08-13 / 08-16 / 08-17 日报 ｜ U Mobile 官网 · NTT Docomo 新闻稿 · 新华网 · 日经 xTECH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判断叁 · 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模型进了基站机房，运营商账本开始兑现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246120" y="1627632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Mobile 与 OpenAI、AWS 达成战略协作——OpenAI 在马来西亚首个电信合作，前沿模型直接用于 RAN 优化与安全威胁检测（08-15）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96896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96896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13.1→7.2%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46120" y="2596896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NTT Docomo 与三星完成用户级 AI-RAN 验证，速率劣化率近半，将推入 3GPP 标准化并探索 6G 用例（08-10）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66160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GW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46120" y="3566160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中国移动 AIDC 累计签约容量（上半年新增 5GW）；AIDC 收入 +486.1%、智算服务 +130.1%，算力与智能服务占主营收入 22.6%（08-13）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535424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35424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人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46120" y="4535424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日立本财年国内 FDE（现场派驻工程师）目标；日、富、NEC、NTT Data 集体从人月计费转向嵌入客户现场的交付模式（08-17）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5778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0E2226"/>
          </a:solidFill>
          <a:ln w="12700">
            <a:solidFill>
              <a:srgbClr val="155E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57784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竞争正从“有没有算力”转向“AI 能不能进生产网”。“模型厂＋公有云＋本地网络方”的三方组合，正在改写网络智能化的招标口径。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来源：08-08 / 08-09 / 08-14 / 08-16 日报 ｜ Business Standard · STT GDC 官网 · RRI · Firmus 官网 · Tracxn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亚太算力地图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新增算力的落点，继续外扩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万卡 B300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246120" y="1627632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印度金奈：L&amp;T 旗下 Vyoma.AI 为 Together AI 部署万颗级 B300，印度最大单集群 AI 工厂，园区按吉瓦级规划、一期 250MW（08-13）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96896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96896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 MW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46120" y="2596896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马来西亚柔佛：STT GDC 获 13.7 亿美元绿色融资推进园区；恩智浦封测厂扩建动工，全面投产后产出翻倍以上（08-13）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66160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Merdeka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46120" y="3566160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印尼日惹：首个高校 AI 技术中心揭牌，接入 Indosat 主权 GPU 即服务平台，跑英伟达全栈——主权 AI 从口号进校园（08-13）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535424"/>
            <a:ext cx="11201400" cy="859536"/>
          </a:xfrm>
          <a:prstGeom prst="roundRect">
            <a:avLst>
              <a:gd name="adj" fmla="val 5319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35424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亿美元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46120" y="4535424"/>
            <a:ext cx="8275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澳洲：Firmus 全额认购股权融资、投后估值超 105 亿美元，液冷 AI 工厂将形成可对外销售的算力供给并向印尼外溢（08-06）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5778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0E2226"/>
          </a:solidFill>
          <a:ln w="12700">
            <a:solidFill>
              <a:srgbClr val="155E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57784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布点跟着电力与主权诉求走：印度、柔佛、印尼承接增量，新加坡转向资本与调度枢纽（东南亚 AI 创业融资 93 亿美元，新加坡 227 轮几乎全拿）。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来源：对应日报及末页链接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高层交流 · 谈资 上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十句可以开口的话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1201400" cy="877824"/>
          </a:xfrm>
          <a:prstGeom prst="roundRect">
            <a:avLst>
              <a:gd name="adj" fmla="val 5208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00200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655064"/>
            <a:ext cx="10012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中国模型占 OpenRouter 调用 63.5%（08-03）｜阿里开放 Qwen-Max 级 2.4T 权重（08-12）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“全球每三次 AI 调用，两次跑在中国模型上——而且现在连 Max 级的权重都放出来了。”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69464"/>
            <a:ext cx="11201400" cy="877824"/>
          </a:xfrm>
          <a:prstGeom prst="roundRect">
            <a:avLst>
              <a:gd name="adj" fmla="val 5208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69464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624328"/>
            <a:ext cx="10012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中国移动 AIDC 收入 +486.1%，将推全国统一 Token 套餐（08-13）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“中国移动把 Token 做成了全国统一套餐——AI 第一次有了‘流量资费’，这套打法东南亚马上能用。”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538728"/>
            <a:ext cx="11201400" cy="877824"/>
          </a:xfrm>
          <a:prstGeom prst="roundRect">
            <a:avLst>
              <a:gd name="adj" fmla="val 5208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38728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593592"/>
            <a:ext cx="10012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三星/SK 海力士转 3–5 年长约，SK 会长研究“内存即服务”（08-13/14）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“存储现在要签三到五年长约，SK 干脆在研究‘内存即服务’——不锁量的买家分不到产能。”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507992"/>
            <a:ext cx="11201400" cy="877824"/>
          </a:xfrm>
          <a:prstGeom prst="roundRect">
            <a:avLst>
              <a:gd name="adj" fmla="val 5208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07992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562856"/>
            <a:ext cx="10012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全球数据中心排队电力超 800GW，德州半年翻倍到 474GW（08-04）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“AI 现在缺的不是 GPU，是变电站——800GW 排队，相当于 40 个三峡。”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5477256"/>
            <a:ext cx="11201400" cy="877824"/>
          </a:xfrm>
          <a:prstGeom prst="roundRect">
            <a:avLst>
              <a:gd name="adj" fmla="val 5208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477256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5532120"/>
            <a:ext cx="10012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Stripe 逾 70 亿美元收购 OpenRouter，3 个月估值涨 5 倍（08-16）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“Stripe 花 70 亿美元买了个‘模型路由器’——三个月前它才值 13 亿。调用入口比模型值钱。”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来源：对应日报及末页链接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高层交流 · 谈资 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十句可以开口的话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1201400" cy="877824"/>
          </a:xfrm>
          <a:prstGeom prst="roundRect">
            <a:avLst>
              <a:gd name="adj" fmla="val 5208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00200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655064"/>
            <a:ext cx="10012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韩国 7 月 AI 服务器 SSD 出口 +500.2%，ICT 出口创同期新高（08-14）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“韩国 7 月 AI 服务器 SSD 出口涨了 500%——这一轮最先兑现的，还是硬件和存储。”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69464"/>
            <a:ext cx="11201400" cy="877824"/>
          </a:xfrm>
          <a:prstGeom prst="roundRect">
            <a:avLst>
              <a:gd name="adj" fmla="val 5208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69464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624328"/>
            <a:ext cx="10012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鸿海云端网络事业群营收占比 51%，首超 iPhone 所在板块（08-12）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“鸿海一半收入来自 AI 机柜，iPhone 退居第二——代工龙头的基本盘换了。”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538728"/>
            <a:ext cx="11201400" cy="877824"/>
          </a:xfrm>
          <a:prstGeom prst="roundRect">
            <a:avLst>
              <a:gd name="adj" fmla="val 5208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38728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593592"/>
            <a:ext cx="10012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中国银行落地全国首个“Token 贷”，凭消耗流水授信（08-14）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“银行开始凭 Token 消耗流水放贷——算力账单第一次成了可抵押资产。”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507992"/>
            <a:ext cx="11201400" cy="877824"/>
          </a:xfrm>
          <a:prstGeom prst="roundRect">
            <a:avLst>
              <a:gd name="adj" fmla="val 5208"/>
            </a:avLst>
          </a:prstGeom>
          <a:solidFill>
            <a:srgbClr val="0D151E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07992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562856"/>
            <a:ext cx="10012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Mobile × OpenAI × AWS：模型进 RAN 优化与威胁检测（08-15）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“OpenAI 在马来西亚的第一个电信合作，是去优化基站——AI 真的进生产网了。”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5477256"/>
            <a:ext cx="11201400" cy="877824"/>
          </a:xfrm>
          <a:prstGeom prst="roundRect">
            <a:avLst>
              <a:gd name="adj" fmla="val 5208"/>
            </a:avLst>
          </a:prstGeom>
          <a:solidFill>
            <a:srgbClr val="111A24"/>
          </a:solidFill>
          <a:ln w="6350">
            <a:solidFill>
              <a:srgbClr val="1A28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477256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5532120"/>
            <a:ext cx="10012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日立本财年国内 FDE 目标 1000 人，四大 IT 厂集体转向（08-17）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“日立要派 1000 个工程师进客户现场——AI 交付正从‘卖人月’变成‘驻场共创’。”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789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谁能把 Token 算清楚，
</a:t>
            </a:r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谁就拿走下一轮定价权。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10744200" cy="1920240"/>
          </a:xfrm>
          <a:prstGeom prst="roundRect">
            <a:avLst>
              <a:gd name="adj" fmla="val 3333"/>
            </a:avLst>
          </a:prstGeom>
          <a:solidFill>
            <a:srgbClr val="111A24"/>
          </a:solidFill>
          <a:ln w="9525">
            <a:solidFill>
              <a:srgbClr val="1C2A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4160520"/>
            <a:ext cx="10149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0C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下期追踪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中国开源模型调用份额是否突破 70%    ② 中移动 Token 套餐落地资费与东南亚跟进者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存储长约如何传导到亚太智算中心造价    ④ 金奈 / 柔佛 / 印尼三地吉瓦级项目开工进度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Stripe–OpenRouter 交割后，网关层的定价与中立性变化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3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亚太ICT MSSD · AI 洞察知识库 · 2026.08 第二期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数据来源与延伸阅读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以下为各判断关键数字的原始出处（点击可打开）；全部条目另见知识库归档 trxmssd.github.io/ai-insights</a:t>
            </a:r>
            <a:endParaRPr lang="en-US" sz="105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02920" y="14173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OpenRouter 中国份额 63.5%（新浪科技）</a:t>
            </a:r>
            <a:endParaRPr lang="en-US" sz="950" dirty="0"/>
          </a:p>
        </p:txBody>
      </p:sp>
      <p:sp>
        <p:nvSpPr>
          <p:cNvPr id="6" name="Text 4">
            <a:hlinkClick r:id="rId2" tooltip=""/>
          </p:cNvPr>
          <p:cNvSpPr/>
          <p:nvPr/>
        </p:nvSpPr>
        <p:spPr>
          <a:xfrm>
            <a:off x="502920" y="175564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Qwen 下载破 30 亿 · HF 报告（IT之家）</a:t>
            </a:r>
            <a:endParaRPr lang="en-US" sz="950" dirty="0"/>
          </a:p>
        </p:txBody>
      </p:sp>
      <p:sp>
        <p:nvSpPr>
          <p:cNvPr id="7" name="Text 5">
            <a:hlinkClick r:id="rId3" tooltip=""/>
          </p:cNvPr>
          <p:cNvSpPr/>
          <p:nvPr/>
        </p:nvSpPr>
        <p:spPr>
          <a:xfrm>
            <a:off x="502920" y="20939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Qwen3.8-2.4T-A95B 开放权重（Qwen 官方）</a:t>
            </a:r>
            <a:endParaRPr lang="en-US" sz="950" dirty="0"/>
          </a:p>
        </p:txBody>
      </p:sp>
      <p:sp>
        <p:nvSpPr>
          <p:cNvPr id="8" name="Text 6">
            <a:hlinkClick r:id="rId4" tooltip=""/>
          </p:cNvPr>
          <p:cNvSpPr/>
          <p:nvPr/>
        </p:nvSpPr>
        <p:spPr>
          <a:xfrm>
            <a:off x="502920" y="243230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DeepSeek API 调价（财联社）</a:t>
            </a:r>
            <a:endParaRPr lang="en-US" sz="950" dirty="0"/>
          </a:p>
        </p:txBody>
      </p:sp>
      <p:sp>
        <p:nvSpPr>
          <p:cNvPr id="9" name="Text 7">
            <a:hlinkClick r:id="rId5" tooltip=""/>
          </p:cNvPr>
          <p:cNvSpPr/>
          <p:nvPr/>
        </p:nvSpPr>
        <p:spPr>
          <a:xfrm>
            <a:off x="502920" y="277063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中国移动 Token 套餐（新浪科技）</a:t>
            </a:r>
            <a:endParaRPr lang="en-US" sz="950" dirty="0"/>
          </a:p>
        </p:txBody>
      </p:sp>
      <p:sp>
        <p:nvSpPr>
          <p:cNvPr id="10" name="Text 8">
            <a:hlinkClick r:id="rId6" tooltip=""/>
          </p:cNvPr>
          <p:cNvSpPr/>
          <p:nvPr/>
        </p:nvSpPr>
        <p:spPr>
          <a:xfrm>
            <a:off x="502920" y="31089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中国移动半年报 AIDC +486.1%（新华网）</a:t>
            </a:r>
            <a:endParaRPr lang="en-US" sz="950" dirty="0"/>
          </a:p>
        </p:txBody>
      </p:sp>
      <p:sp>
        <p:nvSpPr>
          <p:cNvPr id="11" name="Text 9">
            <a:hlinkClick r:id="rId7" tooltip=""/>
          </p:cNvPr>
          <p:cNvSpPr/>
          <p:nvPr/>
        </p:nvSpPr>
        <p:spPr>
          <a:xfrm>
            <a:off x="502920" y="34472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中行“Token 贷”（财联社）</a:t>
            </a:r>
            <a:endParaRPr lang="en-US" sz="950" dirty="0"/>
          </a:p>
        </p:txBody>
      </p:sp>
      <p:sp>
        <p:nvSpPr>
          <p:cNvPr id="12" name="Text 10">
            <a:hlinkClick r:id="rId8" tooltip=""/>
          </p:cNvPr>
          <p:cNvSpPr/>
          <p:nvPr/>
        </p:nvSpPr>
        <p:spPr>
          <a:xfrm>
            <a:off x="502920" y="37856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Stripe 收购 OpenRouter（Axios/彭博）</a:t>
            </a:r>
            <a:endParaRPr lang="en-US" sz="950" dirty="0"/>
          </a:p>
        </p:txBody>
      </p:sp>
      <p:sp>
        <p:nvSpPr>
          <p:cNvPr id="13" name="Text 11">
            <a:hlinkClick r:id="rId9" tooltip=""/>
          </p:cNvPr>
          <p:cNvSpPr/>
          <p:nvPr/>
        </p:nvSpPr>
        <p:spPr>
          <a:xfrm>
            <a:off x="502920" y="412394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Rippling AI 支出治理（TechCrunch）</a:t>
            </a:r>
            <a:endParaRPr lang="en-US" sz="950" dirty="0"/>
          </a:p>
        </p:txBody>
      </p:sp>
      <p:sp>
        <p:nvSpPr>
          <p:cNvPr id="14" name="Text 12">
            <a:hlinkClick r:id="rId10" tooltip=""/>
          </p:cNvPr>
          <p:cNvSpPr/>
          <p:nvPr/>
        </p:nvSpPr>
        <p:spPr>
          <a:xfrm>
            <a:off x="502920" y="446227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软银 LLM Gateway（SoftBank 官网）</a:t>
            </a:r>
            <a:endParaRPr lang="en-US" sz="950" dirty="0"/>
          </a:p>
        </p:txBody>
      </p:sp>
      <p:sp>
        <p:nvSpPr>
          <p:cNvPr id="15" name="Text 13">
            <a:hlinkClick r:id="rId11" tooltip=""/>
          </p:cNvPr>
          <p:cNvSpPr/>
          <p:nvPr/>
        </p:nvSpPr>
        <p:spPr>
          <a:xfrm>
            <a:off x="502920" y="48006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自研芯片（Forbes）</a:t>
            </a:r>
            <a:endParaRPr lang="en-US" sz="950" dirty="0"/>
          </a:p>
        </p:txBody>
      </p:sp>
      <p:sp>
        <p:nvSpPr>
          <p:cNvPr id="16" name="Text 14">
            <a:hlinkClick r:id="rId12" tooltip=""/>
          </p:cNvPr>
          <p:cNvSpPr/>
          <p:nvPr/>
        </p:nvSpPr>
        <p:spPr>
          <a:xfrm>
            <a:off x="502920" y="513892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矽品云林 CoWoS 厂（Taipei Times）</a:t>
            </a:r>
            <a:endParaRPr lang="en-US" sz="950" dirty="0"/>
          </a:p>
        </p:txBody>
      </p:sp>
      <p:sp>
        <p:nvSpPr>
          <p:cNvPr id="17" name="Text 15">
            <a:hlinkClick r:id="rId13" tooltip=""/>
          </p:cNvPr>
          <p:cNvSpPr/>
          <p:nvPr/>
        </p:nvSpPr>
        <p:spPr>
          <a:xfrm>
            <a:off x="502920" y="547725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 海力士 54 万亿韩元两厂（SK hynix）</a:t>
            </a:r>
            <a:endParaRPr lang="en-US" sz="950" dirty="0"/>
          </a:p>
        </p:txBody>
      </p:sp>
      <p:sp>
        <p:nvSpPr>
          <p:cNvPr id="18" name="Text 16">
            <a:hlinkClick r:id="rId14" tooltip=""/>
          </p:cNvPr>
          <p:cNvSpPr/>
          <p:nvPr/>
        </p:nvSpPr>
        <p:spPr>
          <a:xfrm>
            <a:off x="502920" y="581558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存储转 3–5 年长约（Korea Herald）</a:t>
            </a:r>
            <a:endParaRPr lang="en-US" sz="950" dirty="0"/>
          </a:p>
        </p:txBody>
      </p:sp>
      <p:sp>
        <p:nvSpPr>
          <p:cNvPr id="19" name="Text 17">
            <a:hlinkClick r:id="rId15" tooltip=""/>
          </p:cNvPr>
          <p:cNvSpPr/>
          <p:nvPr/>
        </p:nvSpPr>
        <p:spPr>
          <a:xfrm>
            <a:off x="6263640" y="14173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 会长“内存即服务”（KED Global）</a:t>
            </a:r>
            <a:endParaRPr lang="en-US" sz="950" dirty="0"/>
          </a:p>
        </p:txBody>
      </p:sp>
      <p:sp>
        <p:nvSpPr>
          <p:cNvPr id="20" name="Text 18">
            <a:hlinkClick r:id="rId16" tooltip=""/>
          </p:cNvPr>
          <p:cNvSpPr/>
          <p:nvPr/>
        </p:nvSpPr>
        <p:spPr>
          <a:xfrm>
            <a:off x="6263640" y="175564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韩国 7 月 ICT 出口 +140.6%（Korea Times）</a:t>
            </a:r>
            <a:endParaRPr lang="en-US" sz="950" dirty="0"/>
          </a:p>
        </p:txBody>
      </p:sp>
      <p:sp>
        <p:nvSpPr>
          <p:cNvPr id="21" name="Text 19">
            <a:hlinkClick r:id="rId17" tooltip=""/>
          </p:cNvPr>
          <p:cNvSpPr/>
          <p:nvPr/>
        </p:nvSpPr>
        <p:spPr>
          <a:xfrm>
            <a:off x="6263640" y="20939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南亚科 7 月营收 +719.6%（TechNews）</a:t>
            </a:r>
            <a:endParaRPr lang="en-US" sz="950" dirty="0"/>
          </a:p>
        </p:txBody>
      </p:sp>
      <p:sp>
        <p:nvSpPr>
          <p:cNvPr id="22" name="Text 20">
            <a:hlinkClick r:id="rId18" tooltip=""/>
          </p:cNvPr>
          <p:cNvSpPr/>
          <p:nvPr/>
        </p:nvSpPr>
        <p:spPr>
          <a:xfrm>
            <a:off x="6263640" y="243230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鸿海 AI 占比 51%（Al Jazeera）</a:t>
            </a:r>
            <a:endParaRPr lang="en-US" sz="950" dirty="0"/>
          </a:p>
        </p:txBody>
      </p:sp>
      <p:sp>
        <p:nvSpPr>
          <p:cNvPr id="23" name="Text 21">
            <a:hlinkClick r:id="rId19" tooltip=""/>
          </p:cNvPr>
          <p:cNvSpPr/>
          <p:nvPr/>
        </p:nvSpPr>
        <p:spPr>
          <a:xfrm>
            <a:off x="6263640" y="277063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台积电 7 月营收 +44.7%（CNBC）</a:t>
            </a:r>
            <a:endParaRPr lang="en-US" sz="950" dirty="0"/>
          </a:p>
        </p:txBody>
      </p:sp>
      <p:sp>
        <p:nvSpPr>
          <p:cNvPr id="24" name="Text 22">
            <a:hlinkClick r:id="rId20" tooltip=""/>
          </p:cNvPr>
          <p:cNvSpPr/>
          <p:nvPr/>
        </p:nvSpPr>
        <p:spPr>
          <a:xfrm>
            <a:off x="6263640" y="31089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全球排队电力 800GW（彭博）</a:t>
            </a:r>
            <a:endParaRPr lang="en-US" sz="950" dirty="0"/>
          </a:p>
        </p:txBody>
      </p:sp>
      <p:sp>
        <p:nvSpPr>
          <p:cNvPr id="25" name="Text 23">
            <a:hlinkClick r:id="rId21" tooltip=""/>
          </p:cNvPr>
          <p:cNvSpPr/>
          <p:nvPr/>
        </p:nvSpPr>
        <p:spPr>
          <a:xfrm>
            <a:off x="6263640" y="34472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德州暂停新数据中心并审计（TechCrunch）</a:t>
            </a:r>
            <a:endParaRPr lang="en-US" sz="950" dirty="0"/>
          </a:p>
        </p:txBody>
      </p:sp>
      <p:sp>
        <p:nvSpPr>
          <p:cNvPr id="26" name="Text 24">
            <a:hlinkClick r:id="rId22" tooltip=""/>
          </p:cNvPr>
          <p:cNvSpPr/>
          <p:nvPr/>
        </p:nvSpPr>
        <p:spPr>
          <a:xfrm>
            <a:off x="6263640" y="37856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中国前 7 月智算招标 1130 亿（经济参考报）</a:t>
            </a:r>
            <a:endParaRPr lang="en-US" sz="950" dirty="0"/>
          </a:p>
        </p:txBody>
      </p:sp>
      <p:sp>
        <p:nvSpPr>
          <p:cNvPr id="27" name="Text 25">
            <a:hlinkClick r:id="rId23" tooltip=""/>
          </p:cNvPr>
          <p:cNvSpPr/>
          <p:nvPr/>
        </p:nvSpPr>
        <p:spPr>
          <a:xfrm>
            <a:off x="6263640" y="412394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 Mobile × OpenAI（U Mobile 官网）</a:t>
            </a:r>
            <a:endParaRPr lang="en-US" sz="950" dirty="0"/>
          </a:p>
        </p:txBody>
      </p:sp>
      <p:sp>
        <p:nvSpPr>
          <p:cNvPr id="28" name="Text 26">
            <a:hlinkClick r:id="rId24" tooltip=""/>
          </p:cNvPr>
          <p:cNvSpPr/>
          <p:nvPr/>
        </p:nvSpPr>
        <p:spPr>
          <a:xfrm>
            <a:off x="6263640" y="446227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印度金奈万卡 B300（Business Standard）</a:t>
            </a:r>
            <a:endParaRPr lang="en-US" sz="950" dirty="0"/>
          </a:p>
        </p:txBody>
      </p:sp>
      <p:sp>
        <p:nvSpPr>
          <p:cNvPr id="29" name="Text 27">
            <a:hlinkClick r:id="rId25" tooltip=""/>
          </p:cNvPr>
          <p:cNvSpPr/>
          <p:nvPr/>
        </p:nvSpPr>
        <p:spPr>
          <a:xfrm>
            <a:off x="6263640" y="48006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STT GDC 柔佛 13.7 亿美元（官网）</a:t>
            </a:r>
            <a:endParaRPr lang="en-US" sz="950" dirty="0"/>
          </a:p>
        </p:txBody>
      </p:sp>
      <p:sp>
        <p:nvSpPr>
          <p:cNvPr id="30" name="Text 28">
            <a:hlinkClick r:id="rId26" tooltip=""/>
          </p:cNvPr>
          <p:cNvSpPr/>
          <p:nvPr/>
        </p:nvSpPr>
        <p:spPr>
          <a:xfrm>
            <a:off x="6263640" y="513892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Firmus 20 亿美元融资（Firmus 官网）</a:t>
            </a:r>
            <a:endParaRPr lang="en-US" sz="950" dirty="0"/>
          </a:p>
        </p:txBody>
      </p:sp>
      <p:sp>
        <p:nvSpPr>
          <p:cNvPr id="31" name="Text 29">
            <a:hlinkClick r:id="rId27" tooltip=""/>
          </p:cNvPr>
          <p:cNvSpPr/>
          <p:nvPr/>
        </p:nvSpPr>
        <p:spPr>
          <a:xfrm>
            <a:off x="6263640" y="547725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东南亚 AI 融资 93 亿（TechNode Global）</a:t>
            </a:r>
            <a:endParaRPr lang="en-US" sz="950" dirty="0"/>
          </a:p>
        </p:txBody>
      </p:sp>
      <p:sp>
        <p:nvSpPr>
          <p:cNvPr id="32" name="Text 30">
            <a:hlinkClick r:id="rId28" tooltip=""/>
          </p:cNvPr>
          <p:cNvSpPr/>
          <p:nvPr/>
        </p:nvSpPr>
        <p:spPr>
          <a:xfrm>
            <a:off x="6263640" y="581558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 集团 × 英伟达 AI 工厂（GlobeNewswire）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2026-08-17T14:05:29Z</dcterms:created>
  <dcterms:modified xsi:type="dcterms:W3CDTF">2026-08-17T14:05:29Z</dcterms:modified>
</cp:coreProperties>
</file>